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84048"/>
            <a:ext cx="91897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l"/>
            <a:r>
              <a:rPr sz="2000" b="1">
                <a:solidFill>
                  <a:srgbClr val="211C18"/>
                </a:solidFill>
                <a:latin typeface="SimHei"/>
              </a:rPr>
              <a:t>投资要点速览——山金國際黃金股份有限公司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786384"/>
            <a:ext cx="9189720" cy="45720"/>
          </a:xfrm>
          <a:prstGeom prst="rect">
            <a:avLst/>
          </a:prstGeom>
          <a:solidFill>
            <a:srgbClr val="C69552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9189720" cy="329184"/>
          </a:xfrm>
          <a:prstGeom prst="rect">
            <a:avLst/>
          </a:prstGeom>
          <a:solidFill>
            <a:srgbClr val="9A341C"/>
          </a:solidFill>
          <a:ln w="10160">
            <a:solidFill>
              <a:srgbClr val="9A341C"/>
            </a:solidFill>
          </a:ln>
        </p:spPr>
        <p:txBody>
          <a:bodyPr wrap="square" anchor="ctr" lIns="152400" rIns="152400" tIns="2540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imHei"/>
              </a:rPr>
              <a:t>全球低成本金矿领跑者，资源扩张驱动高增长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91056"/>
            <a:ext cx="4494276" cy="2340864"/>
          </a:xfrm>
          <a:prstGeom prst="rect">
            <a:avLst/>
          </a:prstGeom>
          <a:solidFill>
            <a:srgbClr val="FFFFFF"/>
          </a:solidFill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119122" y="1389888"/>
            <a:ext cx="1755648" cy="274320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公司概况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4238244" cy="21214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60" b="0">
                <a:solidFill>
                  <a:srgbClr val="211C18"/>
                </a:solidFill>
                <a:latin typeface="Microsoft YaHei"/>
              </a:rPr>
              <a:t>山金國際是一家典型的“小而美且强”的黄金矿业巨头雏形。公司专注于高品位黄金及有色金属的开采与贸易，核心竞争力在于全球领先的低成本结构（AISC处于全球前10%）和极高的盈利质量。凭借山东黄金的背景支持及国际化管理团队，公司正通过全球化并购与内生增储实现资源量快速翻倍，是具备深厚护城河与清晰增长路径的优质避险资产。</a:t>
            </a:r>
          </a:p>
          <a:p>
            <a:pPr algn="l">
              <a:spcAft>
                <a:spcPts val="300"/>
              </a:spcAft>
            </a:pPr>
            <a:r>
              <a:rPr sz="1080" b="1">
                <a:solidFill>
                  <a:srgbClr val="9A341C"/>
                </a:solidFill>
                <a:latin typeface="Microsoft YaHei"/>
              </a:rPr>
              <a:t>矿产金及银铅锌精粉：</a:t>
            </a:r>
            <a:r>
              <a:rPr sz="1080" b="0">
                <a:solidFill>
                  <a:srgbClr val="211C18"/>
                </a:solidFill>
                <a:latin typeface="Microsoft YaHei"/>
              </a:rPr>
              <a:t>核心盈利产品，品位远超行业平均，2025年毛利率达81.8%，是公司利润的主要来源。</a:t>
            </a:r>
          </a:p>
          <a:p>
            <a:pPr algn="l">
              <a:spcAft>
                <a:spcPts val="300"/>
              </a:spcAft>
            </a:pPr>
            <a:r>
              <a:rPr sz="1080" b="1">
                <a:solidFill>
                  <a:srgbClr val="9A341C"/>
                </a:solidFill>
                <a:latin typeface="Microsoft YaHei"/>
              </a:rPr>
              <a:t>金属贸易业务：</a:t>
            </a:r>
            <a:r>
              <a:rPr sz="1080" b="0">
                <a:solidFill>
                  <a:srgbClr val="211C18"/>
                </a:solidFill>
                <a:latin typeface="Microsoft YaHei"/>
              </a:rPr>
              <a:t>延伸业务，通过公开市场采购销售贵金属及有色金属，提供市场流动性并支持套期保值。</a:t>
            </a:r>
          </a:p>
          <a:p>
            <a:pPr algn="l">
              <a:spcAft>
                <a:spcPts val="300"/>
              </a:spcAft>
            </a:pPr>
            <a:r>
              <a:rPr sz="1080" b="1">
                <a:solidFill>
                  <a:srgbClr val="9A341C"/>
                </a:solidFill>
                <a:latin typeface="Microsoft YaHei"/>
              </a:rPr>
              <a:t>矿山开采与选冶技术服务：</a:t>
            </a:r>
            <a:r>
              <a:rPr sz="1080" b="0">
                <a:solidFill>
                  <a:srgbClr val="211C18"/>
                </a:solidFill>
                <a:latin typeface="Microsoft YaHei"/>
              </a:rPr>
              <a:t>在难选冶矿石处理及膏体充填技术方面具有优势，支持高效率、低成本的矿山开采作业。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5252" y="1591056"/>
            <a:ext cx="4494276" cy="2340864"/>
          </a:xfrm>
          <a:prstGeom prst="rect">
            <a:avLst/>
          </a:prstGeom>
          <a:noFill/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14566" y="1389888"/>
            <a:ext cx="1755648" cy="274320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财务数据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6692" y="1737360"/>
            <a:ext cx="151790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项目（人民币，千元（除特殊标注外））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596" y="1737360"/>
            <a:ext cx="9311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2023/12/31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760" y="1737360"/>
            <a:ext cx="9311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2024/12/31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6924" y="1737360"/>
            <a:ext cx="9311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2025/12/31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6692" y="1719072"/>
            <a:ext cx="4311396" cy="18288"/>
          </a:xfrm>
          <a:prstGeom prst="rect">
            <a:avLst/>
          </a:prstGeom>
          <a:solidFill>
            <a:srgbClr val="9A341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36692" y="2075688"/>
            <a:ext cx="4311396" cy="18288"/>
          </a:xfrm>
          <a:prstGeom prst="rect">
            <a:avLst/>
          </a:prstGeom>
          <a:solidFill>
            <a:srgbClr val="9A341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36692" y="2066544"/>
          <a:ext cx="4311396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7904"/>
                <a:gridCol w="931164"/>
                <a:gridCol w="931164"/>
                <a:gridCol w="931164"/>
              </a:tblGrid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营业收入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8,094,837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13,580,429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17,090,098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营业收入增长率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缺乏信息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67.8%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25.8%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32.0%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30.0%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31.9%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净利率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19.3%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18.0%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19.2%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净利润增长率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缺乏信息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55.7%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34.6%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总资产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16,298,949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18,189,090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20,625,469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资产负债率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18.0%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18.6%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18.6%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ROE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12.0%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17.3%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20.8%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49808" y="4206240"/>
            <a:ext cx="9189720" cy="1485900"/>
          </a:xfrm>
          <a:prstGeom prst="rect">
            <a:avLst/>
          </a:prstGeom>
          <a:solidFill>
            <a:srgbClr val="FFFFFF"/>
          </a:solidFill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39412" y="4005072"/>
            <a:ext cx="1810512" cy="274320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投资亮点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43400"/>
            <a:ext cx="8933688" cy="12847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全球领先的低成本结构与高毛利优势：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公司黄金矿山品位显著高于行业平均，2025年黄金全维持成本（AISC）仅902.3美元/盎司，处于全球前10%低成本区间，开采业务毛利率高达81.8%，具备极强的利润弹性和抗风险能力。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资源储备快速扩张与明确的增长路径：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通过内生勘探与外延并购（如收购Osino），黄金资源量从2023年底的156.3吨增至2025年底的280.9吨，两年内接近翻倍，且现有矿山具备明确的深部找矿及扩产计划，增长动能明确。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卓越的财务质量与强劲的现金流产生能力：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公司财务极其稳健，资产负债率长期低于20%，经营现金流持续高于净利润（2025年达46.8亿元），自由现金流充沛，具备极强的分红潜力及在行业低谷期进行逆周期并购的能力。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893308"/>
            <a:ext cx="9189720" cy="965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8096" y="5911596"/>
            <a:ext cx="1389888" cy="928624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投资风险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7984" y="5911596"/>
            <a:ext cx="7763256" cy="928624"/>
          </a:xfrm>
          <a:prstGeom prst="rect">
            <a:avLst/>
          </a:prstGeom>
          <a:solidFill>
            <a:srgbClr val="F3EEE8"/>
          </a:solidFill>
          <a:ln w="10160">
            <a:solidFill>
              <a:srgbClr val="F3EEE8"/>
            </a:solidFill>
          </a:ln>
        </p:spPr>
        <p:txBody>
          <a:bodyPr wrap="square" anchor="ctr" lIns="76200" rIns="76200" tIns="50800" bIns="50800">
            <a:spAutoFit/>
          </a:bodyPr>
          <a:lstStyle/>
          <a:p>
            <a:pPr algn="l"/>
            <a:r>
              <a:rPr sz="1100" b="0">
                <a:solidFill>
                  <a:srgbClr val="211C18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1136" y="5966460"/>
            <a:ext cx="7635240" cy="818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矿石品位下滑导致成本上行风险：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受矿石品位自然下降及开采深度增加影响，黄金AISC已从2023年的665美元/盎司升至2025年的902.3美元/盎司，若未来深部找矿不及预期，低成本护城河可能被侵蚀。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海外运营环境及证照审批合规风险：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纳米比亚Osino项目作为未来核心增长点，面临当地政策变动、出口征费及建设进度不确定性；同时国内部分矿山存在证照续期审批滞后导致的停产风险。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