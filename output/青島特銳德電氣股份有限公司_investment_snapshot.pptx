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689336" cy="756208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49808" y="384048"/>
            <a:ext cx="9189720" cy="365760"/>
          </a:xfrm>
          <a:prstGeom prst="rect">
            <a:avLst/>
          </a:prstGeom>
          <a:noFill/>
          <a:ln>
            <a:noFill/>
          </a:ln>
        </p:spPr>
        <p:txBody>
          <a:bodyPr wrap="square" anchor="ctr" lIns="25400" rIns="25400" tIns="0" bIns="0">
            <a:spAutoFit/>
          </a:bodyPr>
          <a:lstStyle/>
          <a:p>
            <a:pPr algn="l"/>
            <a:r>
              <a:rPr sz="2000" b="1">
                <a:solidFill>
                  <a:srgbClr val="211C18"/>
                </a:solidFill>
                <a:latin typeface="SimHei"/>
              </a:rPr>
              <a:t>投资要点速览——青島特銳德電氣股份有限公司</a:t>
            </a:r>
          </a:p>
        </p:txBody>
      </p:sp>
      <p:sp>
        <p:nvSpPr>
          <p:cNvPr id="3" name="TextBox 2"/>
          <p:cNvSpPr txBox="1"/>
          <p:nvPr/>
        </p:nvSpPr>
        <p:spPr>
          <a:xfrm>
            <a:off x="749808" y="786384"/>
            <a:ext cx="9189720" cy="45720"/>
          </a:xfrm>
          <a:prstGeom prst="rect">
            <a:avLst/>
          </a:prstGeom>
          <a:solidFill>
            <a:srgbClr val="C69552"/>
          </a:solidFill>
          <a:ln>
            <a:noFill/>
          </a:ln>
        </p:spPr>
        <p:txBody>
          <a:bodyPr wrap="none">
            <a:spAutoFit/>
          </a:bodyPr>
          <a:lstStyle/>
          <a:p/>
        </p:txBody>
      </p:sp>
      <p:sp>
        <p:nvSpPr>
          <p:cNvPr id="4" name="TextBox 3"/>
          <p:cNvSpPr txBox="1"/>
          <p:nvPr/>
        </p:nvSpPr>
        <p:spPr>
          <a:xfrm>
            <a:off x="749808" y="1005840"/>
            <a:ext cx="9189720" cy="329184"/>
          </a:xfrm>
          <a:prstGeom prst="rect">
            <a:avLst/>
          </a:prstGeom>
          <a:solidFill>
            <a:srgbClr val="9A341C"/>
          </a:solidFill>
          <a:ln w="10160">
            <a:solidFill>
              <a:srgbClr val="9A341C"/>
            </a:solidFill>
          </a:ln>
        </p:spPr>
        <p:txBody>
          <a:bodyPr wrap="square" anchor="ctr" lIns="152400" rIns="152400" tIns="25400" bIns="0">
            <a:spAutoFit/>
          </a:bodyPr>
          <a:lstStyle/>
          <a:p>
            <a:pPr algn="l"/>
            <a:r>
              <a:rPr sz="1400" b="1">
                <a:solidFill>
                  <a:srgbClr val="FFFFFF"/>
                </a:solidFill>
                <a:latin typeface="SimHei"/>
              </a:rPr>
              <a:t>电力集成全球冠军，补能网络绝对龙头</a:t>
            </a:r>
          </a:p>
        </p:txBody>
      </p:sp>
      <p:sp>
        <p:nvSpPr>
          <p:cNvPr id="5" name="TextBox 4"/>
          <p:cNvSpPr txBox="1"/>
          <p:nvPr/>
        </p:nvSpPr>
        <p:spPr>
          <a:xfrm>
            <a:off x="749808" y="1591056"/>
            <a:ext cx="4494276" cy="2340864"/>
          </a:xfrm>
          <a:prstGeom prst="rect">
            <a:avLst/>
          </a:prstGeom>
          <a:solidFill>
            <a:srgbClr val="FFFFFF"/>
          </a:solidFill>
          <a:ln w="15240">
            <a:solidFill>
              <a:srgbClr val="D0B182"/>
            </a:solidFill>
            <a:prstDash val="dash"/>
          </a:ln>
        </p:spPr>
        <p:txBody>
          <a:bodyPr wrap="none">
            <a:spAutoFit/>
          </a:bodyPr>
          <a:lstStyle/>
          <a:p/>
        </p:txBody>
      </p:sp>
      <p:sp>
        <p:nvSpPr>
          <p:cNvPr id="6" name="TextBox 5"/>
          <p:cNvSpPr txBox="1"/>
          <p:nvPr/>
        </p:nvSpPr>
        <p:spPr>
          <a:xfrm>
            <a:off x="2119122" y="1389888"/>
            <a:ext cx="1755648" cy="274320"/>
          </a:xfrm>
          <a:prstGeom prst="rect">
            <a:avLst/>
          </a:prstGeom>
          <a:solidFill>
            <a:srgbClr val="EFE8DF"/>
          </a:solidFill>
          <a:ln w="10160">
            <a:solidFill>
              <a:srgbClr val="EFE8DF"/>
            </a:solidFill>
          </a:ln>
        </p:spPr>
        <p:txBody>
          <a:bodyPr wrap="square" anchor="ctr" lIns="0" rIns="0" tIns="0" bIns="0">
            <a:spAutoFit/>
          </a:bodyPr>
          <a:lstStyle/>
          <a:p>
            <a:pPr algn="ctr"/>
            <a:r>
              <a:rPr sz="1400" b="1">
                <a:solidFill>
                  <a:srgbClr val="9A341C"/>
                </a:solidFill>
                <a:latin typeface="SimHei"/>
              </a:rPr>
              <a:t>公司概况</a:t>
            </a:r>
          </a:p>
        </p:txBody>
      </p:sp>
      <p:sp>
        <p:nvSpPr>
          <p:cNvPr id="7" name="TextBox 6"/>
          <p:cNvSpPr txBox="1"/>
          <p:nvPr/>
        </p:nvSpPr>
        <p:spPr>
          <a:xfrm>
            <a:off x="877824" y="1737360"/>
            <a:ext cx="4238244" cy="2121408"/>
          </a:xfrm>
          <a:prstGeom prst="rect">
            <a:avLst/>
          </a:prstGeom>
          <a:noFill/>
          <a:ln>
            <a:noFill/>
          </a:ln>
        </p:spPr>
        <p:txBody>
          <a:bodyPr wrap="square" anchor="ctr" lIns="0" rIns="0" tIns="0" bIns="0">
            <a:spAutoFit/>
          </a:bodyPr>
          <a:lstStyle/>
          <a:p>
            <a:pPr algn="l">
              <a:spcAft>
                <a:spcPts val="600"/>
              </a:spcAft>
            </a:pPr>
            <a:r>
              <a:rPr sz="1060" b="0">
                <a:solidFill>
                  <a:srgbClr val="211C18"/>
                </a:solidFill>
                <a:latin typeface="Microsoft YaHei"/>
              </a:rPr>
              <a:t>青岛特锐德是全球领先的电力设备集成商与中国最大的充电网运营商。公司首创“制造+运营”双轮驱动模式，凭借预制舱变电站的全球领先地位和特来电充电网的规模效应，深度参与能源转型与算力基础设施建设。公司具备极高的技术与资源壁垒，正通过国际化扩张与虚拟电厂业务开启第二增长曲线，展现出强劲的盈利增长弹性和市场稀缺性。</a:t>
            </a:r>
          </a:p>
          <a:p>
            <a:pPr algn="l">
              <a:spcAft>
                <a:spcPts val="300"/>
              </a:spcAft>
            </a:pPr>
            <a:r>
              <a:rPr sz="1080" b="1">
                <a:solidFill>
                  <a:srgbClr val="9A341C"/>
                </a:solidFill>
                <a:latin typeface="Microsoft YaHei"/>
              </a:rPr>
              <a:t>电力设备业务：</a:t>
            </a:r>
            <a:r>
              <a:rPr sz="1080" b="0">
                <a:solidFill>
                  <a:srgbClr val="211C18"/>
                </a:solidFill>
                <a:latin typeface="Microsoft YaHei"/>
              </a:rPr>
              <a:t>核心产品为高压及中压预制舱变电站，通过模块化集成缩短工期并节约占地，毛利率维持在22%-30%的高位。</a:t>
            </a:r>
          </a:p>
          <a:p>
            <a:pPr algn="l">
              <a:spcAft>
                <a:spcPts val="300"/>
              </a:spcAft>
            </a:pPr>
            <a:r>
              <a:rPr sz="1080" b="1">
                <a:solidFill>
                  <a:srgbClr val="9A341C"/>
                </a:solidFill>
                <a:latin typeface="Microsoft YaHei"/>
              </a:rPr>
              <a:t>充电设备制造：</a:t>
            </a:r>
            <a:r>
              <a:rPr sz="1080" b="0">
                <a:solidFill>
                  <a:srgbClr val="211C18"/>
                </a:solidFill>
                <a:latin typeface="Microsoft YaHei"/>
              </a:rPr>
              <a:t>提供智能群充电系统及微电网产品，解决大规模充电对电网冲击，通过群管群控技术实现功率动态分配。</a:t>
            </a:r>
          </a:p>
          <a:p>
            <a:pPr algn="l">
              <a:spcAft>
                <a:spcPts val="300"/>
              </a:spcAft>
            </a:pPr>
            <a:r>
              <a:rPr sz="1080" b="1">
                <a:solidFill>
                  <a:srgbClr val="9A341C"/>
                </a:solidFill>
                <a:latin typeface="Microsoft YaHei"/>
              </a:rPr>
              <a:t>充电网运营服务：</a:t>
            </a:r>
            <a:r>
              <a:rPr sz="1080" b="0">
                <a:solidFill>
                  <a:srgbClr val="211C18"/>
                </a:solidFill>
                <a:latin typeface="Microsoft YaHei"/>
              </a:rPr>
              <a:t>通过“特来电”平台提供充电、能源管理及虚拟电厂服务，利用V2G技术使车辆成为可调度储能资源。</a:t>
            </a:r>
          </a:p>
        </p:txBody>
      </p:sp>
      <p:sp>
        <p:nvSpPr>
          <p:cNvPr id="8" name="TextBox 7"/>
          <p:cNvSpPr txBox="1"/>
          <p:nvPr/>
        </p:nvSpPr>
        <p:spPr>
          <a:xfrm>
            <a:off x="5445252" y="1591056"/>
            <a:ext cx="4494276" cy="2340864"/>
          </a:xfrm>
          <a:prstGeom prst="rect">
            <a:avLst/>
          </a:prstGeom>
          <a:noFill/>
          <a:ln w="15240">
            <a:solidFill>
              <a:srgbClr val="D0B182"/>
            </a:solidFill>
            <a:prstDash val="dash"/>
          </a:ln>
        </p:spPr>
        <p:txBody>
          <a:bodyPr wrap="none">
            <a:spAutoFit/>
          </a:bodyPr>
          <a:lstStyle/>
          <a:p/>
        </p:txBody>
      </p:sp>
      <p:sp>
        <p:nvSpPr>
          <p:cNvPr id="9" name="TextBox 8"/>
          <p:cNvSpPr txBox="1"/>
          <p:nvPr/>
        </p:nvSpPr>
        <p:spPr>
          <a:xfrm>
            <a:off x="6814566" y="1389888"/>
            <a:ext cx="1755648" cy="274320"/>
          </a:xfrm>
          <a:prstGeom prst="rect">
            <a:avLst/>
          </a:prstGeom>
          <a:solidFill>
            <a:srgbClr val="EFE8DF"/>
          </a:solidFill>
          <a:ln w="10160">
            <a:solidFill>
              <a:srgbClr val="EFE8DF"/>
            </a:solidFill>
          </a:ln>
        </p:spPr>
        <p:txBody>
          <a:bodyPr wrap="square" anchor="ctr" lIns="0" rIns="0" tIns="0" bIns="0">
            <a:spAutoFit/>
          </a:bodyPr>
          <a:lstStyle/>
          <a:p>
            <a:pPr algn="ctr"/>
            <a:r>
              <a:rPr sz="1400" b="1">
                <a:solidFill>
                  <a:srgbClr val="9A341C"/>
                </a:solidFill>
                <a:latin typeface="SimHei"/>
              </a:rPr>
              <a:t>财务数据</a:t>
            </a:r>
          </a:p>
        </p:txBody>
      </p:sp>
      <p:sp>
        <p:nvSpPr>
          <p:cNvPr id="10" name="TextBox 9"/>
          <p:cNvSpPr txBox="1"/>
          <p:nvPr/>
        </p:nvSpPr>
        <p:spPr>
          <a:xfrm>
            <a:off x="5536692" y="1737360"/>
            <a:ext cx="1517904" cy="329184"/>
          </a:xfrm>
          <a:prstGeom prst="rect">
            <a:avLst/>
          </a:prstGeom>
          <a:noFill/>
          <a:ln>
            <a:noFill/>
          </a:ln>
        </p:spPr>
        <p:txBody>
          <a:bodyPr wrap="square" anchor="ctr" lIns="25400" rIns="25400" tIns="0" bIns="0">
            <a:spAutoFit/>
          </a:bodyPr>
          <a:lstStyle/>
          <a:p>
            <a:pPr algn="ctr"/>
            <a:r>
              <a:rPr sz="1019" b="1">
                <a:solidFill>
                  <a:srgbClr val="211C18"/>
                </a:solidFill>
                <a:latin typeface="Microsoft YaHei"/>
              </a:rPr>
              <a:t>项目（人民币，千元）</a:t>
            </a:r>
          </a:p>
        </p:txBody>
      </p:sp>
      <p:sp>
        <p:nvSpPr>
          <p:cNvPr id="11" name="TextBox 10"/>
          <p:cNvSpPr txBox="1"/>
          <p:nvPr/>
        </p:nvSpPr>
        <p:spPr>
          <a:xfrm>
            <a:off x="7054596" y="1737360"/>
            <a:ext cx="931164" cy="329184"/>
          </a:xfrm>
          <a:prstGeom prst="rect">
            <a:avLst/>
          </a:prstGeom>
          <a:noFill/>
          <a:ln>
            <a:noFill/>
          </a:ln>
        </p:spPr>
        <p:txBody>
          <a:bodyPr wrap="square" anchor="ctr" lIns="25400" rIns="25400" tIns="0" bIns="0">
            <a:spAutoFit/>
          </a:bodyPr>
          <a:lstStyle/>
          <a:p>
            <a:pPr algn="ctr"/>
            <a:r>
              <a:rPr sz="1019" b="1">
                <a:solidFill>
                  <a:srgbClr val="211C18"/>
                </a:solidFill>
                <a:latin typeface="Microsoft YaHei"/>
              </a:rPr>
              <a:t>2023年度</a:t>
            </a:r>
          </a:p>
        </p:txBody>
      </p:sp>
      <p:sp>
        <p:nvSpPr>
          <p:cNvPr id="12" name="TextBox 11"/>
          <p:cNvSpPr txBox="1"/>
          <p:nvPr/>
        </p:nvSpPr>
        <p:spPr>
          <a:xfrm>
            <a:off x="7985760" y="1737360"/>
            <a:ext cx="931164" cy="329184"/>
          </a:xfrm>
          <a:prstGeom prst="rect">
            <a:avLst/>
          </a:prstGeom>
          <a:noFill/>
          <a:ln>
            <a:noFill/>
          </a:ln>
        </p:spPr>
        <p:txBody>
          <a:bodyPr wrap="square" anchor="ctr" lIns="25400" rIns="25400" tIns="0" bIns="0">
            <a:spAutoFit/>
          </a:bodyPr>
          <a:lstStyle/>
          <a:p>
            <a:pPr algn="ctr"/>
            <a:r>
              <a:rPr sz="1019" b="1">
                <a:solidFill>
                  <a:srgbClr val="211C18"/>
                </a:solidFill>
                <a:latin typeface="Microsoft YaHei"/>
              </a:rPr>
              <a:t>2024年度</a:t>
            </a:r>
          </a:p>
        </p:txBody>
      </p:sp>
      <p:sp>
        <p:nvSpPr>
          <p:cNvPr id="13" name="TextBox 12"/>
          <p:cNvSpPr txBox="1"/>
          <p:nvPr/>
        </p:nvSpPr>
        <p:spPr>
          <a:xfrm>
            <a:off x="8916924" y="1737360"/>
            <a:ext cx="931164" cy="329184"/>
          </a:xfrm>
          <a:prstGeom prst="rect">
            <a:avLst/>
          </a:prstGeom>
          <a:noFill/>
          <a:ln>
            <a:noFill/>
          </a:ln>
        </p:spPr>
        <p:txBody>
          <a:bodyPr wrap="square" anchor="ctr" lIns="25400" rIns="25400" tIns="0" bIns="0">
            <a:spAutoFit/>
          </a:bodyPr>
          <a:lstStyle/>
          <a:p>
            <a:pPr algn="ctr"/>
            <a:r>
              <a:rPr sz="1019" b="1">
                <a:solidFill>
                  <a:srgbClr val="211C18"/>
                </a:solidFill>
                <a:latin typeface="Microsoft YaHei"/>
              </a:rPr>
              <a:t>2025年前10个月</a:t>
            </a:r>
          </a:p>
        </p:txBody>
      </p:sp>
      <p:sp>
        <p:nvSpPr>
          <p:cNvPr id="14" name="TextBox 13"/>
          <p:cNvSpPr txBox="1"/>
          <p:nvPr/>
        </p:nvSpPr>
        <p:spPr>
          <a:xfrm>
            <a:off x="5536692" y="1719072"/>
            <a:ext cx="4311396" cy="18288"/>
          </a:xfrm>
          <a:prstGeom prst="rect">
            <a:avLst/>
          </a:prstGeom>
          <a:solidFill>
            <a:srgbClr val="9A341C"/>
          </a:solidFill>
          <a:ln>
            <a:noFill/>
          </a:ln>
        </p:spPr>
        <p:txBody>
          <a:bodyPr wrap="none">
            <a:spAutoFit/>
          </a:bodyPr>
          <a:lstStyle/>
          <a:p/>
        </p:txBody>
      </p:sp>
      <p:sp>
        <p:nvSpPr>
          <p:cNvPr id="15" name="TextBox 14"/>
          <p:cNvSpPr txBox="1"/>
          <p:nvPr/>
        </p:nvSpPr>
        <p:spPr>
          <a:xfrm>
            <a:off x="5536692" y="2075688"/>
            <a:ext cx="4311396" cy="18288"/>
          </a:xfrm>
          <a:prstGeom prst="rect">
            <a:avLst/>
          </a:prstGeom>
          <a:solidFill>
            <a:srgbClr val="9A341C"/>
          </a:solidFill>
          <a:ln>
            <a:noFill/>
          </a:ln>
        </p:spPr>
        <p:txBody>
          <a:bodyPr wrap="none">
            <a:spAutoFit/>
          </a:bodyPr>
          <a:lstStyle/>
          <a:p/>
        </p:txBody>
      </p:sp>
      <p:graphicFrame>
        <p:nvGraphicFramePr>
          <p:cNvPr id="16" name="Table 15"/>
          <p:cNvGraphicFramePr>
            <a:graphicFrameLocks noGrp="1"/>
          </p:cNvGraphicFramePr>
          <p:nvPr/>
        </p:nvGraphicFramePr>
        <p:xfrm>
          <a:off x="5536692" y="2066544"/>
          <a:ext cx="4311396" cy="1792224"/>
        </p:xfrm>
        <a:graphic>
          <a:graphicData uri="http://schemas.openxmlformats.org/drawingml/2006/table">
            <a:tbl>
              <a:tblPr>
                <a:tableStyleId>{5C22544A-7EE6-4342-B048-85BDC9FD1C3A}</a:tableStyleId>
              </a:tblPr>
              <a:tblGrid>
                <a:gridCol w="1517904"/>
                <a:gridCol w="931164"/>
                <a:gridCol w="931164"/>
                <a:gridCol w="931164"/>
              </a:tblGrid>
              <a:tr h="224028">
                <a:tc>
                  <a:txBody>
                    <a:bodyPr wrap="square" anchor="ctr"/>
                    <a:lstStyle/>
                    <a:p>
                      <a:pPr algn="l"/>
                      <a:r>
                        <a:rPr sz="1019" b="1">
                          <a:solidFill>
                            <a:srgbClr val="211C18"/>
                          </a:solidFill>
                          <a:latin typeface="Microsoft YaHei"/>
                        </a:rPr>
                        <a:t>营业收入</a:t>
                      </a:r>
                    </a:p>
                  </a:txBody>
                  <a:tcPr anchor="ctr" marL="45720" marR="15240" marT="12700" marB="12700">
                    <a:solidFill>
                      <a:srgbClr val="F8F4EE"/>
                    </a:solidFill>
                  </a:tcPr>
                </a:tc>
                <a:tc>
                  <a:txBody>
                    <a:bodyPr wrap="square" anchor="ctr"/>
                    <a:lstStyle/>
                    <a:p>
                      <a:pPr algn="r"/>
                      <a:r>
                        <a:rPr sz="1019" b="0">
                          <a:solidFill>
                            <a:srgbClr val="211C18"/>
                          </a:solidFill>
                          <a:latin typeface="Microsoft YaHei"/>
                        </a:rPr>
                        <a:t>12,690,571</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15,374,476</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11,328,749</a:t>
                      </a:r>
                    </a:p>
                  </a:txBody>
                  <a:tcPr anchor="ctr" marL="15240" marR="45720" marT="12700" marB="12700">
                    <a:solidFill>
                      <a:srgbClr val="F8F4EE"/>
                    </a:solidFill>
                  </a:tcPr>
                </a:tc>
              </a:tr>
              <a:tr h="224028">
                <a:tc>
                  <a:txBody>
                    <a:bodyPr wrap="square" anchor="ctr"/>
                    <a:lstStyle/>
                    <a:p>
                      <a:pPr algn="l"/>
                      <a:r>
                        <a:rPr sz="1019" b="1">
                          <a:solidFill>
                            <a:srgbClr val="211C18"/>
                          </a:solidFill>
                          <a:latin typeface="Microsoft YaHei"/>
                        </a:rPr>
                        <a:t>营业收入增长率</a:t>
                      </a:r>
                    </a:p>
                  </a:txBody>
                  <a:tcPr anchor="ctr" marL="45720" marR="15240" marT="12700" marB="12700">
                    <a:solidFill>
                      <a:srgbClr val="F1EBE4"/>
                    </a:solidFill>
                  </a:tcPr>
                </a:tc>
                <a:tc>
                  <a:txBody>
                    <a:bodyPr wrap="square" anchor="ctr"/>
                    <a:lstStyle/>
                    <a:p>
                      <a:pPr algn="r"/>
                      <a:r>
                        <a:rPr sz="1019" b="0">
                          <a:solidFill>
                            <a:srgbClr val="211C18"/>
                          </a:solidFill>
                          <a:latin typeface="Microsoft YaHei"/>
                        </a:rPr>
                        <a:t>缺乏信息</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21.15%</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8.66% (同比)</a:t>
                      </a:r>
                    </a:p>
                  </a:txBody>
                  <a:tcPr anchor="ctr" marL="15240" marR="45720" marT="12700" marB="12700">
                    <a:solidFill>
                      <a:srgbClr val="F1EBE4"/>
                    </a:solidFill>
                  </a:tcPr>
                </a:tc>
              </a:tr>
              <a:tr h="224028">
                <a:tc>
                  <a:txBody>
                    <a:bodyPr wrap="square" anchor="ctr"/>
                    <a:lstStyle/>
                    <a:p>
                      <a:pPr algn="l"/>
                      <a:r>
                        <a:rPr sz="1019" b="1">
                          <a:solidFill>
                            <a:srgbClr val="211C18"/>
                          </a:solidFill>
                          <a:latin typeface="Microsoft YaHei"/>
                        </a:rPr>
                        <a:t>毛利率</a:t>
                      </a:r>
                    </a:p>
                  </a:txBody>
                  <a:tcPr anchor="ctr" marL="45720" marR="15240" marT="12700" marB="12700">
                    <a:solidFill>
                      <a:srgbClr val="F8F4EE"/>
                    </a:solidFill>
                  </a:tcPr>
                </a:tc>
                <a:tc>
                  <a:txBody>
                    <a:bodyPr wrap="square" anchor="ctr"/>
                    <a:lstStyle/>
                    <a:p>
                      <a:pPr algn="r"/>
                      <a:r>
                        <a:rPr sz="1019" b="0">
                          <a:solidFill>
                            <a:srgbClr val="211C18"/>
                          </a:solidFill>
                          <a:latin typeface="Microsoft YaHei"/>
                        </a:rPr>
                        <a:t>26.2%</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25.9%</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26.8%</a:t>
                      </a:r>
                    </a:p>
                  </a:txBody>
                  <a:tcPr anchor="ctr" marL="15240" marR="45720" marT="12700" marB="12700">
                    <a:solidFill>
                      <a:srgbClr val="F8F4EE"/>
                    </a:solidFill>
                  </a:tcPr>
                </a:tc>
              </a:tr>
              <a:tr h="224028">
                <a:tc>
                  <a:txBody>
                    <a:bodyPr wrap="square" anchor="ctr"/>
                    <a:lstStyle/>
                    <a:p>
                      <a:pPr algn="l"/>
                      <a:r>
                        <a:rPr sz="1019" b="1">
                          <a:solidFill>
                            <a:srgbClr val="211C18"/>
                          </a:solidFill>
                          <a:latin typeface="Microsoft YaHei"/>
                        </a:rPr>
                        <a:t>净利率</a:t>
                      </a:r>
                    </a:p>
                  </a:txBody>
                  <a:tcPr anchor="ctr" marL="45720" marR="15240" marT="12700" marB="12700">
                    <a:solidFill>
                      <a:srgbClr val="F1EBE4"/>
                    </a:solidFill>
                  </a:tcPr>
                </a:tc>
                <a:tc>
                  <a:txBody>
                    <a:bodyPr wrap="square" anchor="ctr"/>
                    <a:lstStyle/>
                    <a:p>
                      <a:pPr algn="r"/>
                      <a:r>
                        <a:rPr sz="1019" b="0">
                          <a:solidFill>
                            <a:srgbClr val="211C18"/>
                          </a:solidFill>
                          <a:latin typeface="Microsoft YaHei"/>
                        </a:rPr>
                        <a:t>4.1%</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6.1%</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7.4%</a:t>
                      </a:r>
                    </a:p>
                  </a:txBody>
                  <a:tcPr anchor="ctr" marL="15240" marR="45720" marT="12700" marB="12700">
                    <a:solidFill>
                      <a:srgbClr val="F1EBE4"/>
                    </a:solidFill>
                  </a:tcPr>
                </a:tc>
              </a:tr>
              <a:tr h="224028">
                <a:tc>
                  <a:txBody>
                    <a:bodyPr wrap="square" anchor="ctr"/>
                    <a:lstStyle/>
                    <a:p>
                      <a:pPr algn="l"/>
                      <a:r>
                        <a:rPr sz="1019" b="1">
                          <a:solidFill>
                            <a:srgbClr val="211C18"/>
                          </a:solidFill>
                          <a:latin typeface="Microsoft YaHei"/>
                        </a:rPr>
                        <a:t>净利润增长率</a:t>
                      </a:r>
                    </a:p>
                  </a:txBody>
                  <a:tcPr anchor="ctr" marL="45720" marR="15240" marT="12700" marB="12700">
                    <a:solidFill>
                      <a:srgbClr val="F8F4EE"/>
                    </a:solidFill>
                  </a:tcPr>
                </a:tc>
                <a:tc>
                  <a:txBody>
                    <a:bodyPr wrap="square" anchor="ctr"/>
                    <a:lstStyle/>
                    <a:p>
                      <a:pPr algn="r"/>
                      <a:r>
                        <a:rPr sz="1019" b="0">
                          <a:solidFill>
                            <a:srgbClr val="211C18"/>
                          </a:solidFill>
                          <a:latin typeface="Microsoft YaHei"/>
                        </a:rPr>
                        <a:t>缺乏信息</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78.34%</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65.48% (同比)</a:t>
                      </a:r>
                    </a:p>
                  </a:txBody>
                  <a:tcPr anchor="ctr" marL="15240" marR="45720" marT="12700" marB="12700">
                    <a:solidFill>
                      <a:srgbClr val="F8F4EE"/>
                    </a:solidFill>
                  </a:tcPr>
                </a:tc>
              </a:tr>
              <a:tr h="224028">
                <a:tc>
                  <a:txBody>
                    <a:bodyPr wrap="square" anchor="ctr"/>
                    <a:lstStyle/>
                    <a:p>
                      <a:pPr algn="l"/>
                      <a:r>
                        <a:rPr sz="1019" b="1">
                          <a:solidFill>
                            <a:srgbClr val="211C18"/>
                          </a:solidFill>
                          <a:latin typeface="Microsoft YaHei"/>
                        </a:rPr>
                        <a:t>总资产</a:t>
                      </a:r>
                    </a:p>
                  </a:txBody>
                  <a:tcPr anchor="ctr" marL="45720" marR="15240" marT="12700" marB="12700">
                    <a:solidFill>
                      <a:srgbClr val="F1EBE4"/>
                    </a:solidFill>
                  </a:tcPr>
                </a:tc>
                <a:tc>
                  <a:txBody>
                    <a:bodyPr wrap="square" anchor="ctr"/>
                    <a:lstStyle/>
                    <a:p>
                      <a:pPr algn="r"/>
                      <a:r>
                        <a:rPr sz="1019" b="0">
                          <a:solidFill>
                            <a:srgbClr val="211C18"/>
                          </a:solidFill>
                          <a:latin typeface="Microsoft YaHei"/>
                        </a:rPr>
                        <a:t>23,876,880</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25,013,397</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24,852,746</a:t>
                      </a:r>
                    </a:p>
                  </a:txBody>
                  <a:tcPr anchor="ctr" marL="15240" marR="45720" marT="12700" marB="12700">
                    <a:solidFill>
                      <a:srgbClr val="F1EBE4"/>
                    </a:solidFill>
                  </a:tcPr>
                </a:tc>
              </a:tr>
              <a:tr h="224028">
                <a:tc>
                  <a:txBody>
                    <a:bodyPr wrap="square" anchor="ctr"/>
                    <a:lstStyle/>
                    <a:p>
                      <a:pPr algn="l"/>
                      <a:r>
                        <a:rPr sz="1019" b="1">
                          <a:solidFill>
                            <a:srgbClr val="211C18"/>
                          </a:solidFill>
                          <a:latin typeface="Microsoft YaHei"/>
                        </a:rPr>
                        <a:t>资产负债率</a:t>
                      </a:r>
                    </a:p>
                  </a:txBody>
                  <a:tcPr anchor="ctr" marL="45720" marR="15240" marT="12700" marB="12700">
                    <a:solidFill>
                      <a:srgbClr val="F8F4EE"/>
                    </a:solidFill>
                  </a:tcPr>
                </a:tc>
                <a:tc>
                  <a:txBody>
                    <a:bodyPr wrap="square" anchor="ctr"/>
                    <a:lstStyle/>
                    <a:p>
                      <a:pPr algn="r"/>
                      <a:r>
                        <a:rPr sz="1019" b="0">
                          <a:solidFill>
                            <a:srgbClr val="211C18"/>
                          </a:solidFill>
                          <a:latin typeface="Microsoft YaHei"/>
                        </a:rPr>
                        <a:t>67.8%</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66.2%</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63.3%</a:t>
                      </a:r>
                    </a:p>
                  </a:txBody>
                  <a:tcPr anchor="ctr" marL="15240" marR="45720" marT="12700" marB="12700">
                    <a:solidFill>
                      <a:srgbClr val="F8F4EE"/>
                    </a:solidFill>
                  </a:tcPr>
                </a:tc>
              </a:tr>
              <a:tr h="224028">
                <a:tc>
                  <a:txBody>
                    <a:bodyPr wrap="square" anchor="ctr"/>
                    <a:lstStyle/>
                    <a:p>
                      <a:pPr algn="l"/>
                      <a:r>
                        <a:rPr sz="1019" b="1">
                          <a:solidFill>
                            <a:srgbClr val="211C18"/>
                          </a:solidFill>
                          <a:latin typeface="Microsoft YaHei"/>
                        </a:rPr>
                        <a:t>ROE</a:t>
                      </a:r>
                    </a:p>
                  </a:txBody>
                  <a:tcPr anchor="ctr" marL="45720" marR="15240" marT="12700" marB="12700">
                    <a:solidFill>
                      <a:srgbClr val="F1EBE4"/>
                    </a:solidFill>
                  </a:tcPr>
                </a:tc>
                <a:tc>
                  <a:txBody>
                    <a:bodyPr wrap="square" anchor="ctr"/>
                    <a:lstStyle/>
                    <a:p>
                      <a:pPr algn="r"/>
                      <a:r>
                        <a:rPr sz="1019" b="0">
                          <a:solidFill>
                            <a:srgbClr val="211C18"/>
                          </a:solidFill>
                          <a:latin typeface="Microsoft YaHei"/>
                        </a:rPr>
                        <a:t>6.6%</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11.3%</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11.1% (年化)</a:t>
                      </a:r>
                    </a:p>
                  </a:txBody>
                  <a:tcPr anchor="ctr" marL="15240" marR="45720" marT="12700" marB="12700">
                    <a:solidFill>
                      <a:srgbClr val="F1EBE4"/>
                    </a:solidFill>
                  </a:tcPr>
                </a:tc>
              </a:tr>
            </a:tbl>
          </a:graphicData>
        </a:graphic>
      </p:graphicFrame>
      <p:sp>
        <p:nvSpPr>
          <p:cNvPr id="17" name="TextBox 16"/>
          <p:cNvSpPr txBox="1"/>
          <p:nvPr/>
        </p:nvSpPr>
        <p:spPr>
          <a:xfrm>
            <a:off x="749808" y="4206240"/>
            <a:ext cx="9189720" cy="1485900"/>
          </a:xfrm>
          <a:prstGeom prst="rect">
            <a:avLst/>
          </a:prstGeom>
          <a:solidFill>
            <a:srgbClr val="FFFFFF"/>
          </a:solidFill>
          <a:ln w="15240">
            <a:solidFill>
              <a:srgbClr val="D0B182"/>
            </a:solidFill>
            <a:prstDash val="dash"/>
          </a:ln>
        </p:spPr>
        <p:txBody>
          <a:bodyPr wrap="none">
            <a:spAutoFit/>
          </a:bodyPr>
          <a:lstStyle/>
          <a:p/>
        </p:txBody>
      </p:sp>
      <p:sp>
        <p:nvSpPr>
          <p:cNvPr id="18" name="TextBox 17"/>
          <p:cNvSpPr txBox="1"/>
          <p:nvPr/>
        </p:nvSpPr>
        <p:spPr>
          <a:xfrm>
            <a:off x="4439412" y="4005072"/>
            <a:ext cx="1810512" cy="274320"/>
          </a:xfrm>
          <a:prstGeom prst="rect">
            <a:avLst/>
          </a:prstGeom>
          <a:solidFill>
            <a:srgbClr val="EFE8DF"/>
          </a:solidFill>
          <a:ln w="10160">
            <a:solidFill>
              <a:srgbClr val="EFE8DF"/>
            </a:solidFill>
          </a:ln>
        </p:spPr>
        <p:txBody>
          <a:bodyPr wrap="square" anchor="ctr" lIns="0" rIns="0" tIns="0" bIns="0">
            <a:spAutoFit/>
          </a:bodyPr>
          <a:lstStyle/>
          <a:p>
            <a:pPr algn="ctr"/>
            <a:r>
              <a:rPr sz="1400" b="1">
                <a:solidFill>
                  <a:srgbClr val="9A341C"/>
                </a:solidFill>
                <a:latin typeface="SimHei"/>
              </a:rPr>
              <a:t>投资亮点</a:t>
            </a:r>
          </a:p>
        </p:txBody>
      </p:sp>
      <p:sp>
        <p:nvSpPr>
          <p:cNvPr id="19" name="TextBox 18"/>
          <p:cNvSpPr txBox="1"/>
          <p:nvPr/>
        </p:nvSpPr>
        <p:spPr>
          <a:xfrm>
            <a:off x="877824" y="4343400"/>
            <a:ext cx="8933688" cy="1284732"/>
          </a:xfrm>
          <a:prstGeom prst="rect">
            <a:avLst/>
          </a:prstGeom>
          <a:noFill/>
          <a:ln>
            <a:noFill/>
          </a:ln>
        </p:spPr>
        <p:txBody>
          <a:bodyPr wrap="square" anchor="ctr" lIns="0" rIns="0" tIns="0" bIns="0">
            <a:spAutoFit/>
          </a:bodyPr>
          <a:lstStyle/>
          <a:p>
            <a:pPr algn="l">
              <a:spcAft>
                <a:spcPts val="300"/>
              </a:spcAft>
            </a:pPr>
            <a:r>
              <a:rPr sz="1100" b="1">
                <a:solidFill>
                  <a:srgbClr val="9A341C"/>
                </a:solidFill>
                <a:latin typeface="Microsoft YaHei"/>
              </a:rPr>
              <a:t>电力设备集成化全球领军者：</a:t>
            </a:r>
            <a:r>
              <a:rPr sz="1100" b="0">
                <a:solidFill>
                  <a:srgbClr val="211C18"/>
                </a:solidFill>
                <a:latin typeface="Microsoft YaHei"/>
              </a:rPr>
              <a:t>公司是全球预制舱变电站销量冠军，高压预制舱市占率达47.3%，唯一实现400kV商业化。其“工厂预制”模式将建设周期从年缩短至月，在算力中心与新能源并网领域具有不可逆的替代优势。</a:t>
            </a:r>
          </a:p>
          <a:p>
            <a:pPr algn="l">
              <a:spcAft>
                <a:spcPts val="300"/>
              </a:spcAft>
            </a:pPr>
            <a:r>
              <a:rPr sz="1100" b="1">
                <a:solidFill>
                  <a:srgbClr val="9A341C"/>
                </a:solidFill>
                <a:latin typeface="Microsoft YaHei"/>
              </a:rPr>
              <a:t>充电网规模与数据绝对龙头：</a:t>
            </a:r>
            <a:r>
              <a:rPr sz="1100" b="0">
                <a:solidFill>
                  <a:srgbClr val="211C18"/>
                </a:solidFill>
                <a:latin typeface="Microsoft YaHei"/>
              </a:rPr>
              <a:t>旗下“特来电”充电量、终端数及流量均居全国第一，注册用户超5000万。通过全国布局的合资公司锁定优质电力容量，构建了极高的资源壁垒，并正向高毛利的虚拟电厂（VPP）能源管理服务转型。</a:t>
            </a:r>
          </a:p>
          <a:p>
            <a:pPr algn="l">
              <a:spcAft>
                <a:spcPts val="300"/>
              </a:spcAft>
            </a:pPr>
            <a:r>
              <a:rPr sz="1100" b="1">
                <a:solidFill>
                  <a:srgbClr val="9A341C"/>
                </a:solidFill>
                <a:latin typeface="Microsoft YaHei"/>
              </a:rPr>
              <a:t>业绩爆发与出海逻辑双兑现：</a:t>
            </a:r>
            <a:r>
              <a:rPr sz="1100" b="0">
                <a:solidFill>
                  <a:srgbClr val="211C18"/>
                </a:solidFill>
                <a:latin typeface="Microsoft YaHei"/>
              </a:rPr>
              <a:t>2024年及2025年前10月净利润同比分别增长78.3%和65.5%，盈利进入爆发期。同时海外收入占比从1.6%跃升至9.5%，中东基地布局预示国际化战略步入收获期，打开长期成长空间。</a:t>
            </a:r>
          </a:p>
        </p:txBody>
      </p:sp>
      <p:sp>
        <p:nvSpPr>
          <p:cNvPr id="20" name="TextBox 19"/>
          <p:cNvSpPr txBox="1"/>
          <p:nvPr/>
        </p:nvSpPr>
        <p:spPr>
          <a:xfrm>
            <a:off x="749808" y="5893308"/>
            <a:ext cx="9189720" cy="965200"/>
          </a:xfrm>
          <a:prstGeom prst="rect">
            <a:avLst/>
          </a:prstGeom>
          <a:solidFill>
            <a:srgbClr val="FFFFFF"/>
          </a:solidFill>
          <a:ln w="15240">
            <a:solidFill>
              <a:srgbClr val="D0B182"/>
            </a:solidFill>
            <a:prstDash val="dash"/>
          </a:ln>
        </p:spPr>
        <p:txBody>
          <a:bodyPr wrap="none">
            <a:spAutoFit/>
          </a:bodyPr>
          <a:lstStyle/>
          <a:p/>
        </p:txBody>
      </p:sp>
      <p:sp>
        <p:nvSpPr>
          <p:cNvPr id="21" name="TextBox 20"/>
          <p:cNvSpPr txBox="1"/>
          <p:nvPr/>
        </p:nvSpPr>
        <p:spPr>
          <a:xfrm>
            <a:off x="768096" y="5911596"/>
            <a:ext cx="1389888" cy="928624"/>
          </a:xfrm>
          <a:prstGeom prst="rect">
            <a:avLst/>
          </a:prstGeom>
          <a:solidFill>
            <a:srgbClr val="EFE8DF"/>
          </a:solidFill>
          <a:ln w="10160">
            <a:solidFill>
              <a:srgbClr val="EFE8DF"/>
            </a:solidFill>
          </a:ln>
        </p:spPr>
        <p:txBody>
          <a:bodyPr wrap="square" anchor="ctr" lIns="25400" rIns="25400" tIns="0" bIns="0">
            <a:spAutoFit/>
          </a:bodyPr>
          <a:lstStyle/>
          <a:p>
            <a:pPr algn="ctr"/>
            <a:r>
              <a:rPr sz="1400" b="1">
                <a:solidFill>
                  <a:srgbClr val="9A341C"/>
                </a:solidFill>
                <a:latin typeface="SimHei"/>
              </a:rPr>
              <a:t>投资风险</a:t>
            </a:r>
          </a:p>
        </p:txBody>
      </p:sp>
      <p:sp>
        <p:nvSpPr>
          <p:cNvPr id="22" name="TextBox 21"/>
          <p:cNvSpPr txBox="1"/>
          <p:nvPr/>
        </p:nvSpPr>
        <p:spPr>
          <a:xfrm>
            <a:off x="2157984" y="5911596"/>
            <a:ext cx="7763256" cy="928624"/>
          </a:xfrm>
          <a:prstGeom prst="rect">
            <a:avLst/>
          </a:prstGeom>
          <a:solidFill>
            <a:srgbClr val="F3EEE8"/>
          </a:solidFill>
          <a:ln w="10160">
            <a:solidFill>
              <a:srgbClr val="F3EEE8"/>
            </a:solidFill>
          </a:ln>
        </p:spPr>
        <p:txBody>
          <a:bodyPr wrap="square" anchor="ctr" lIns="76200" rIns="76200" tIns="50800" bIns="50800">
            <a:spAutoFit/>
          </a:bodyPr>
          <a:lstStyle/>
          <a:p>
            <a:pPr algn="l"/>
            <a:r>
              <a:rPr sz="1100" b="0">
                <a:solidFill>
                  <a:srgbClr val="211C18"/>
                </a:solidFill>
                <a:latin typeface="Microsoft YaHei"/>
              </a:rPr>
              <a:t/>
            </a:r>
          </a:p>
        </p:txBody>
      </p:sp>
      <p:sp>
        <p:nvSpPr>
          <p:cNvPr id="23" name="TextBox 22"/>
          <p:cNvSpPr txBox="1"/>
          <p:nvPr/>
        </p:nvSpPr>
        <p:spPr>
          <a:xfrm>
            <a:off x="2231136" y="5966460"/>
            <a:ext cx="7635240" cy="818896"/>
          </a:xfrm>
          <a:prstGeom prst="rect">
            <a:avLst/>
          </a:prstGeom>
          <a:noFill/>
          <a:ln>
            <a:noFill/>
          </a:ln>
        </p:spPr>
        <p:txBody>
          <a:bodyPr wrap="square" anchor="ctr" lIns="0" rIns="0" tIns="0" bIns="0">
            <a:spAutoFit/>
          </a:bodyPr>
          <a:lstStyle/>
          <a:p>
            <a:pPr algn="l">
              <a:spcAft>
                <a:spcPts val="200"/>
              </a:spcAft>
            </a:pPr>
            <a:r>
              <a:rPr sz="1100" b="1">
                <a:solidFill>
                  <a:srgbClr val="9A341C"/>
                </a:solidFill>
                <a:latin typeface="Microsoft YaHei"/>
              </a:rPr>
              <a:t>应收账款与现金流错位风险：</a:t>
            </a:r>
            <a:r>
              <a:rPr sz="1100" b="0">
                <a:solidFill>
                  <a:srgbClr val="211C18"/>
                </a:solidFill>
                <a:latin typeface="Microsoft YaHei"/>
              </a:rPr>
              <a:t>截至2025年10月，贸易应收款项及票据高达96亿元，占总资产近40%，周转天数拉长至255.2天。同期经营现金流仅0.69亿元，若下游客户结算延迟，将引发大额减值并危及流动性。</a:t>
            </a:r>
          </a:p>
          <a:p>
            <a:pPr algn="l">
              <a:spcAft>
                <a:spcPts val="200"/>
              </a:spcAft>
            </a:pPr>
            <a:r>
              <a:rPr sz="1100" b="1">
                <a:solidFill>
                  <a:srgbClr val="9A341C"/>
                </a:solidFill>
                <a:latin typeface="Microsoft YaHei"/>
              </a:rPr>
              <a:t>行业竞争加剧导致单价下滑风险：</a:t>
            </a:r>
            <a:r>
              <a:rPr sz="1100" b="0">
                <a:solidFill>
                  <a:srgbClr val="211C18"/>
                </a:solidFill>
                <a:latin typeface="Microsoft YaHei"/>
              </a:rPr>
              <a:t>2025年前10个月充电设备平均售价从0.43元/W降至0.30元/W，降幅达30%。制造端价格战激烈，公司在维持市场份额的同时，面临毛利挤压与营运资金占用的双重压力。</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