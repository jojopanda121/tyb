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384048"/>
            <a:ext cx="91897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l"/>
            <a:r>
              <a:rPr sz="2000" b="1">
                <a:solidFill>
                  <a:srgbClr val="211C18"/>
                </a:solidFill>
                <a:latin typeface="SimHei"/>
              </a:rPr>
              <a:t>投资要点速览——上海曦智科技股份有限公司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786384"/>
            <a:ext cx="9189720" cy="45720"/>
          </a:xfrm>
          <a:prstGeom prst="rect">
            <a:avLst/>
          </a:prstGeom>
          <a:solidFill>
            <a:srgbClr val="C69552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005840"/>
            <a:ext cx="9189720" cy="329184"/>
          </a:xfrm>
          <a:prstGeom prst="rect">
            <a:avLst/>
          </a:prstGeom>
          <a:solidFill>
            <a:srgbClr val="9A341C"/>
          </a:solidFill>
          <a:ln w="10160">
            <a:solidFill>
              <a:srgbClr val="9A341C"/>
            </a:solidFill>
          </a:ln>
        </p:spPr>
        <p:txBody>
          <a:bodyPr wrap="square" anchor="ctr" lIns="152400" rIns="152400" tIns="2540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imHei"/>
              </a:rPr>
              <a:t>全球光电混合算力领航者，重塑AI基础设施性能极限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91056"/>
            <a:ext cx="4494276" cy="2340864"/>
          </a:xfrm>
          <a:prstGeom prst="rect">
            <a:avLst/>
          </a:prstGeom>
          <a:solidFill>
            <a:srgbClr val="FFFFFF"/>
          </a:solidFill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119122" y="1389888"/>
            <a:ext cx="1755648" cy="274320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公司概况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4238244" cy="21214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60" b="0">
                <a:solidFill>
                  <a:srgbClr val="211C18"/>
                </a:solidFill>
                <a:latin typeface="Microsoft YaHei"/>
              </a:rPr>
              <a:t>上海曦智科技是全球光电混合算力领域的领军企业，致力于通过光子技术突破传统电互连的“内存墙”与“功耗墙”瓶颈。公司提供涵盖光互连、光计算及相关技术服务的全栈解决方案，已实现千卡级GPU集群的商业化部署。凭借代际领先的性能优势和深厚的专利布局，公司在AI大模型算力基础设施市场占据核心地位，是极具稀缺性的硬科技投资标的。</a:t>
            </a:r>
          </a:p>
          <a:p>
            <a:pPr algn="l">
              <a:spcAft>
                <a:spcPts val="300"/>
              </a:spcAft>
            </a:pPr>
            <a:r>
              <a:rPr sz="1080" b="1">
                <a:solidFill>
                  <a:srgbClr val="9A341C"/>
                </a:solidFill>
                <a:latin typeface="Microsoft YaHei"/>
              </a:rPr>
              <a:t>光互连（Optical Interconnect）：</a:t>
            </a:r>
            <a:r>
              <a:rPr sz="1080" b="0">
                <a:solidFill>
                  <a:srgbClr val="211C18"/>
                </a:solidFill>
                <a:latin typeface="Microsoft YaHei"/>
              </a:rPr>
              <a:t>解决AI基础设施中GPU/CPU间高速传输，延迟降低18.2倍，2025年贡献近八成收入。</a:t>
            </a:r>
          </a:p>
          <a:p>
            <a:pPr algn="l">
              <a:spcAft>
                <a:spcPts val="300"/>
              </a:spcAft>
            </a:pPr>
            <a:r>
              <a:rPr sz="1080" b="1">
                <a:solidFill>
                  <a:srgbClr val="9A341C"/>
                </a:solidFill>
                <a:latin typeface="Microsoft YaHei"/>
              </a:rPr>
              <a:t>光计算（Optical Computing）：</a:t>
            </a:r>
            <a:r>
              <a:rPr sz="1080" b="0">
                <a:solidFill>
                  <a:srgbClr val="211C18"/>
                </a:solidFill>
                <a:latin typeface="Microsoft YaHei"/>
              </a:rPr>
              <a:t>利用光子线性计算单元处理大规模矩阵乘法，PACE系列产品在特定运算上比传统GPU快数百倍。</a:t>
            </a:r>
          </a:p>
          <a:p>
            <a:pPr algn="l">
              <a:spcAft>
                <a:spcPts val="300"/>
              </a:spcAft>
            </a:pPr>
            <a:r>
              <a:rPr sz="1080" b="1">
                <a:solidFill>
                  <a:srgbClr val="9A341C"/>
                </a:solidFill>
                <a:latin typeface="Microsoft YaHei"/>
              </a:rPr>
              <a:t>技术开发服务：</a:t>
            </a:r>
            <a:r>
              <a:rPr sz="1080" b="0">
                <a:solidFill>
                  <a:srgbClr val="211C18"/>
                </a:solidFill>
                <a:latin typeface="Microsoft YaHei"/>
              </a:rPr>
              <a:t>提供芯片原型开发、软件适配及测试验证等定制化服务，是公司早期技术积累的重要来源。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5252" y="1591056"/>
            <a:ext cx="4494276" cy="2340864"/>
          </a:xfrm>
          <a:prstGeom prst="rect">
            <a:avLst/>
          </a:prstGeom>
          <a:noFill/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14566" y="1389888"/>
            <a:ext cx="1755648" cy="274320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财务数据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6692" y="1737360"/>
            <a:ext cx="151790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项目（人民币，千元）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596" y="1737360"/>
            <a:ext cx="9311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2023年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5760" y="1737360"/>
            <a:ext cx="9311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2024年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6924" y="1737360"/>
            <a:ext cx="9311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019" b="1">
                <a:solidFill>
                  <a:srgbClr val="211C18"/>
                </a:solidFill>
                <a:latin typeface="Microsoft YaHei"/>
              </a:rPr>
              <a:t>2025年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6692" y="1719072"/>
            <a:ext cx="4311396" cy="18288"/>
          </a:xfrm>
          <a:prstGeom prst="rect">
            <a:avLst/>
          </a:prstGeom>
          <a:solidFill>
            <a:srgbClr val="9A341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36692" y="2075688"/>
            <a:ext cx="4311396" cy="18288"/>
          </a:xfrm>
          <a:prstGeom prst="rect">
            <a:avLst/>
          </a:prstGeom>
          <a:solidFill>
            <a:srgbClr val="9A341C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36692" y="2066544"/>
          <a:ext cx="4311396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7904"/>
                <a:gridCol w="931164"/>
                <a:gridCol w="931164"/>
                <a:gridCol w="931164"/>
              </a:tblGrid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营业收入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38,235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60,191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106,368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营业收入增长率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801.3%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57.4%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76.7%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毛利率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60.7%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53.5%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39.0%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净利率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-1,081.5%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-1,221.6%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-1,262.0%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净利润增长率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缺乏信息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-77.8%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-82.6%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总资产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870,179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1,183,203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1,137,832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资产负债率</a:t>
                      </a:r>
                    </a:p>
                  </a:txBody>
                  <a:tcPr anchor="ctr" marL="45720" marR="1524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378.9%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358.0%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473.3%</a:t>
                      </a:r>
                    </a:p>
                  </a:txBody>
                  <a:tcPr anchor="ctr" marL="15240" marR="45720" marT="12700" marB="12700">
                    <a:solidFill>
                      <a:srgbClr val="F8F4EE"/>
                    </a:solidFill>
                  </a:tcPr>
                </a:tc>
              </a:tr>
              <a:tr h="224028">
                <a:tc>
                  <a:txBody>
                    <a:bodyPr wrap="square" anchor="ctr"/>
                    <a:lstStyle/>
                    <a:p>
                      <a:pPr algn="l"/>
                      <a:r>
                        <a:rPr sz="1019" b="1">
                          <a:solidFill>
                            <a:srgbClr val="211C18"/>
                          </a:solidFill>
                          <a:latin typeface="Microsoft YaHei"/>
                        </a:rPr>
                        <a:t>ROE</a:t>
                      </a:r>
                    </a:p>
                  </a:txBody>
                  <a:tcPr anchor="ctr" marL="45720" marR="1524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无法直接计算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无法直接计算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r"/>
                      <a:r>
                        <a:rPr sz="1019" b="0">
                          <a:solidFill>
                            <a:srgbClr val="211C18"/>
                          </a:solidFill>
                          <a:latin typeface="Microsoft YaHei"/>
                        </a:rPr>
                        <a:t>无法直接计算</a:t>
                      </a:r>
                    </a:p>
                  </a:txBody>
                  <a:tcPr anchor="ctr" marL="15240" marR="45720" marT="12700" marB="12700">
                    <a:solidFill>
                      <a:srgbClr val="F1EBE4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49808" y="4206240"/>
            <a:ext cx="9189720" cy="1485900"/>
          </a:xfrm>
          <a:prstGeom prst="rect">
            <a:avLst/>
          </a:prstGeom>
          <a:solidFill>
            <a:srgbClr val="FFFFFF"/>
          </a:solidFill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39412" y="4005072"/>
            <a:ext cx="1810512" cy="274320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投资亮点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43400"/>
            <a:ext cx="8933688" cy="12847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全球领先的光电混合算力稀缺标的：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公司是全球光子计算与光电混合算力领域的先行者，2025年在中国独立Scale-up光互连市场份额高达88.3%，具备极高的行业稀缺性与领先的市场地位。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深厚的技术护城河与专利壁垒：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拥有410项专利构成的全球最大光电混合算力专利组合之一，核心团队来自MIT及顶级半导体大厂，在PIC与EIC协同设计及3D封装领域积累了深厚的工程经验。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商业化落地加速与高客户粘性：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产品已在三个千卡级GPU集群成功部署，2025年收入同比增长76.7%，光互连产品深度嵌入客户硬件设计周期，具备极高的切换成本和先发优势。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893308"/>
            <a:ext cx="9189720" cy="965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0B182"/>
            </a:solidFill>
            <a:prstDash val="dash"/>
          </a:ln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8096" y="5911596"/>
            <a:ext cx="1389888" cy="928624"/>
          </a:xfrm>
          <a:prstGeom prst="rect">
            <a:avLst/>
          </a:prstGeom>
          <a:solidFill>
            <a:srgbClr val="EFE8DF"/>
          </a:solidFill>
          <a:ln w="10160">
            <a:solidFill>
              <a:srgbClr val="EFE8DF"/>
            </a:solidFill>
          </a:ln>
        </p:spPr>
        <p:txBody>
          <a:bodyPr wrap="square" anchor="ctr" lIns="25400" rIns="25400" tIns="0" bIns="0">
            <a:spAutoFit/>
          </a:bodyPr>
          <a:lstStyle/>
          <a:p>
            <a:pPr algn="ctr"/>
            <a:r>
              <a:rPr sz="1400" b="1">
                <a:solidFill>
                  <a:srgbClr val="9A341C"/>
                </a:solidFill>
                <a:latin typeface="SimHei"/>
              </a:rPr>
              <a:t>投资风险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7984" y="5911596"/>
            <a:ext cx="7763256" cy="928624"/>
          </a:xfrm>
          <a:prstGeom prst="rect">
            <a:avLst/>
          </a:prstGeom>
          <a:solidFill>
            <a:srgbClr val="F3EEE8"/>
          </a:solidFill>
          <a:ln w="10160">
            <a:solidFill>
              <a:srgbClr val="F3EEE8"/>
            </a:solidFill>
          </a:ln>
        </p:spPr>
        <p:txBody>
          <a:bodyPr wrap="square" anchor="ctr" lIns="76200" rIns="76200" tIns="50800" bIns="50800">
            <a:spAutoFit/>
          </a:bodyPr>
          <a:lstStyle/>
          <a:p>
            <a:pPr algn="l"/>
            <a:r>
              <a:rPr sz="1100" b="0">
                <a:solidFill>
                  <a:srgbClr val="211C18"/>
                </a:solidFill>
                <a:latin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1136" y="5966460"/>
            <a:ext cx="7635240" cy="818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财务结构脆弱与资不抵债风险：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2025年末净负债达42.5亿元，经营现金流持续净流出，高度依赖外部融资。若IPO进程或后续融资受阻，公司将面临严峻的流动性风险与清算压力。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9A341C"/>
                </a:solidFill>
                <a:latin typeface="Microsoft YaHei"/>
              </a:rPr>
              <a:t>地缘政治与供应链中断风险：</a:t>
            </a:r>
            <a:r>
              <a:rPr sz="1100" b="0">
                <a:solidFill>
                  <a:srgbClr val="211C18"/>
                </a:solidFill>
                <a:latin typeface="Microsoft YaHei"/>
              </a:rPr>
              <a:t>采用Fabless模式，高度依赖先进制程代工及高端EDA工具。地缘政治导致的出口管制政策若进一步收紧，可能直接威胁公司的流片能力与核心产品迭代。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