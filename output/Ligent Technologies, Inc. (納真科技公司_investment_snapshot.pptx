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Lst>
  <p:sldSz cx="10689336" cy="7562088"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49808" y="384048"/>
            <a:ext cx="9189720" cy="365760"/>
          </a:xfrm>
          <a:prstGeom prst="rect">
            <a:avLst/>
          </a:prstGeom>
          <a:noFill/>
          <a:ln>
            <a:noFill/>
          </a:ln>
        </p:spPr>
        <p:txBody>
          <a:bodyPr wrap="square" anchor="ctr" lIns="25400" rIns="25400" tIns="0" bIns="0">
            <a:spAutoFit/>
          </a:bodyPr>
          <a:lstStyle/>
          <a:p>
            <a:pPr algn="l"/>
            <a:r>
              <a:rPr sz="2000" b="1">
                <a:solidFill>
                  <a:srgbClr val="211C18"/>
                </a:solidFill>
                <a:latin typeface="SimHei"/>
              </a:rPr>
              <a:t>投资要点速览——Ligent Technologies, Inc. (納真科技公司</a:t>
            </a:r>
          </a:p>
        </p:txBody>
      </p:sp>
      <p:sp>
        <p:nvSpPr>
          <p:cNvPr id="3" name="TextBox 2"/>
          <p:cNvSpPr txBox="1"/>
          <p:nvPr/>
        </p:nvSpPr>
        <p:spPr>
          <a:xfrm>
            <a:off x="749808" y="786384"/>
            <a:ext cx="9189720" cy="45720"/>
          </a:xfrm>
          <a:prstGeom prst="rect">
            <a:avLst/>
          </a:prstGeom>
          <a:solidFill>
            <a:srgbClr val="C69552"/>
          </a:solidFill>
          <a:ln>
            <a:noFill/>
          </a:ln>
        </p:spPr>
        <p:txBody>
          <a:bodyPr wrap="none">
            <a:spAutoFit/>
          </a:bodyPr>
          <a:lstStyle/>
          <a:p/>
        </p:txBody>
      </p:sp>
      <p:sp>
        <p:nvSpPr>
          <p:cNvPr id="4" name="TextBox 3"/>
          <p:cNvSpPr txBox="1"/>
          <p:nvPr/>
        </p:nvSpPr>
        <p:spPr>
          <a:xfrm>
            <a:off x="749808" y="1005840"/>
            <a:ext cx="9189720" cy="329184"/>
          </a:xfrm>
          <a:prstGeom prst="rect">
            <a:avLst/>
          </a:prstGeom>
          <a:solidFill>
            <a:srgbClr val="9A341C"/>
          </a:solidFill>
          <a:ln w="10160">
            <a:solidFill>
              <a:srgbClr val="9A341C"/>
            </a:solidFill>
          </a:ln>
        </p:spPr>
        <p:txBody>
          <a:bodyPr wrap="square" anchor="ctr" lIns="152400" rIns="152400" tIns="25400" bIns="0">
            <a:spAutoFit/>
          </a:bodyPr>
          <a:lstStyle/>
          <a:p>
            <a:pPr algn="l"/>
            <a:r>
              <a:rPr sz="1400" b="1">
                <a:solidFill>
                  <a:srgbClr val="FFFFFF"/>
                </a:solidFill>
                <a:latin typeface="SimHei"/>
              </a:rPr>
              <a:t>全球领先光通信专家，AI 算力连接核心标的</a:t>
            </a:r>
          </a:p>
        </p:txBody>
      </p:sp>
      <p:sp>
        <p:nvSpPr>
          <p:cNvPr id="5" name="TextBox 4"/>
          <p:cNvSpPr txBox="1"/>
          <p:nvPr/>
        </p:nvSpPr>
        <p:spPr>
          <a:xfrm>
            <a:off x="749808" y="1591056"/>
            <a:ext cx="4494276" cy="2340864"/>
          </a:xfrm>
          <a:prstGeom prst="rect">
            <a:avLst/>
          </a:prstGeom>
          <a:solidFill>
            <a:srgbClr val="FFFFFF"/>
          </a:solidFill>
          <a:ln w="15240">
            <a:solidFill>
              <a:srgbClr val="D0B182"/>
            </a:solidFill>
            <a:prstDash val="dash"/>
          </a:ln>
        </p:spPr>
        <p:txBody>
          <a:bodyPr wrap="none">
            <a:spAutoFit/>
          </a:bodyPr>
          <a:lstStyle/>
          <a:p/>
        </p:txBody>
      </p:sp>
      <p:sp>
        <p:nvSpPr>
          <p:cNvPr id="6" name="TextBox 5"/>
          <p:cNvSpPr txBox="1"/>
          <p:nvPr/>
        </p:nvSpPr>
        <p:spPr>
          <a:xfrm>
            <a:off x="2119122" y="1389888"/>
            <a:ext cx="1755648" cy="274320"/>
          </a:xfrm>
          <a:prstGeom prst="rect">
            <a:avLst/>
          </a:prstGeom>
          <a:solidFill>
            <a:srgbClr val="EFE8DF"/>
          </a:solidFill>
          <a:ln w="10160">
            <a:solidFill>
              <a:srgbClr val="EFE8DF"/>
            </a:solidFill>
          </a:ln>
        </p:spPr>
        <p:txBody>
          <a:bodyPr wrap="square" anchor="ctr" lIns="0" rIns="0" tIns="0" bIns="0">
            <a:spAutoFit/>
          </a:bodyPr>
          <a:lstStyle/>
          <a:p>
            <a:pPr algn="ctr"/>
            <a:r>
              <a:rPr sz="1400" b="1">
                <a:solidFill>
                  <a:srgbClr val="9A341C"/>
                </a:solidFill>
                <a:latin typeface="SimHei"/>
              </a:rPr>
              <a:t>公司概况</a:t>
            </a:r>
          </a:p>
        </p:txBody>
      </p:sp>
      <p:sp>
        <p:nvSpPr>
          <p:cNvPr id="7" name="TextBox 6"/>
          <p:cNvSpPr txBox="1"/>
          <p:nvPr/>
        </p:nvSpPr>
        <p:spPr>
          <a:xfrm>
            <a:off x="877824" y="1737360"/>
            <a:ext cx="4238244" cy="2121408"/>
          </a:xfrm>
          <a:prstGeom prst="rect">
            <a:avLst/>
          </a:prstGeom>
          <a:noFill/>
          <a:ln>
            <a:noFill/>
          </a:ln>
        </p:spPr>
        <p:txBody>
          <a:bodyPr wrap="square" anchor="ctr" lIns="0" rIns="0" tIns="0" bIns="0">
            <a:spAutoFit/>
          </a:bodyPr>
          <a:lstStyle/>
          <a:p>
            <a:pPr algn="l">
              <a:spcAft>
                <a:spcPts val="600"/>
              </a:spcAft>
            </a:pPr>
            <a:r>
              <a:rPr sz="1080" b="0">
                <a:solidFill>
                  <a:srgbClr val="211C18"/>
                </a:solidFill>
                <a:latin typeface="Microsoft YaHei"/>
              </a:rPr>
              <a:t>纳真科技是全球领先的光通信与光连接产品供应商，全球光模块市场排名第五。公司凭借“光芯片+光模块”的垂直整合能力，成功卡位AI算力爆发红利，实现800G产品批量交付。其业务覆盖数通、电信及接入网全产业链，通过全球化产能布局深度绑定字节跳动、阿里巴巴及华为等头部客户，正处于高毛利数通业务驱动的盈利爆发期。</a:t>
            </a:r>
          </a:p>
          <a:p>
            <a:pPr algn="l">
              <a:spcAft>
                <a:spcPts val="300"/>
              </a:spcAft>
            </a:pPr>
            <a:r>
              <a:rPr sz="1080" b="1">
                <a:solidFill>
                  <a:srgbClr val="9A341C"/>
                </a:solidFill>
                <a:latin typeface="Microsoft YaHei"/>
              </a:rPr>
              <a:t>数通光模块：</a:t>
            </a:r>
            <a:r>
              <a:rPr sz="1080" b="0">
                <a:solidFill>
                  <a:srgbClr val="211C18"/>
                </a:solidFill>
                <a:latin typeface="Microsoft YaHei"/>
              </a:rPr>
              <a:t>用于AI集群及数据中心，支持400G/800G量产及1.6T研发，是公司核心增长引擎。</a:t>
            </a:r>
          </a:p>
          <a:p>
            <a:pPr algn="l">
              <a:spcAft>
                <a:spcPts val="300"/>
              </a:spcAft>
            </a:pPr>
            <a:r>
              <a:rPr sz="1080" b="1">
                <a:solidFill>
                  <a:srgbClr val="9A341C"/>
                </a:solidFill>
                <a:latin typeface="Microsoft YaHei"/>
              </a:rPr>
              <a:t>光芯片业务：</a:t>
            </a:r>
            <a:r>
              <a:rPr sz="1080" b="0">
                <a:solidFill>
                  <a:srgbClr val="211C18"/>
                </a:solidFill>
                <a:latin typeface="Microsoft YaHei"/>
              </a:rPr>
              <a:t>自主研发生产DFB和EML激光器芯片，实现核心组件自研，是垂直整合战略的关键。</a:t>
            </a:r>
          </a:p>
          <a:p>
            <a:pPr algn="l">
              <a:spcAft>
                <a:spcPts val="300"/>
              </a:spcAft>
            </a:pPr>
            <a:r>
              <a:rPr sz="1080" b="1">
                <a:solidFill>
                  <a:srgbClr val="9A341C"/>
                </a:solidFill>
                <a:latin typeface="Microsoft YaHei"/>
              </a:rPr>
              <a:t>光网络终端：</a:t>
            </a:r>
            <a:r>
              <a:rPr sz="1080" b="0">
                <a:solidFill>
                  <a:srgbClr val="211C18"/>
                </a:solidFill>
                <a:latin typeface="Microsoft YaHei"/>
              </a:rPr>
              <a:t>包括ONT盒子及Wi-Fi覆盖产品，用于宽带接入最后一公里，提供稳定的电信级连接。</a:t>
            </a:r>
          </a:p>
        </p:txBody>
      </p:sp>
      <p:sp>
        <p:nvSpPr>
          <p:cNvPr id="8" name="TextBox 7"/>
          <p:cNvSpPr txBox="1"/>
          <p:nvPr/>
        </p:nvSpPr>
        <p:spPr>
          <a:xfrm>
            <a:off x="5445252" y="1591056"/>
            <a:ext cx="4494276" cy="2340864"/>
          </a:xfrm>
          <a:prstGeom prst="rect">
            <a:avLst/>
          </a:prstGeom>
          <a:noFill/>
          <a:ln w="15240">
            <a:solidFill>
              <a:srgbClr val="D0B182"/>
            </a:solidFill>
            <a:prstDash val="dash"/>
          </a:ln>
        </p:spPr>
        <p:txBody>
          <a:bodyPr wrap="none">
            <a:spAutoFit/>
          </a:bodyPr>
          <a:lstStyle/>
          <a:p/>
        </p:txBody>
      </p:sp>
      <p:sp>
        <p:nvSpPr>
          <p:cNvPr id="9" name="TextBox 8"/>
          <p:cNvSpPr txBox="1"/>
          <p:nvPr/>
        </p:nvSpPr>
        <p:spPr>
          <a:xfrm>
            <a:off x="6814566" y="1389888"/>
            <a:ext cx="1755648" cy="274320"/>
          </a:xfrm>
          <a:prstGeom prst="rect">
            <a:avLst/>
          </a:prstGeom>
          <a:solidFill>
            <a:srgbClr val="EFE8DF"/>
          </a:solidFill>
          <a:ln w="10160">
            <a:solidFill>
              <a:srgbClr val="EFE8DF"/>
            </a:solidFill>
          </a:ln>
        </p:spPr>
        <p:txBody>
          <a:bodyPr wrap="square" anchor="ctr" lIns="0" rIns="0" tIns="0" bIns="0">
            <a:spAutoFit/>
          </a:bodyPr>
          <a:lstStyle/>
          <a:p>
            <a:pPr algn="ctr"/>
            <a:r>
              <a:rPr sz="1400" b="1">
                <a:solidFill>
                  <a:srgbClr val="9A341C"/>
                </a:solidFill>
                <a:latin typeface="SimHei"/>
              </a:rPr>
              <a:t>财务数据</a:t>
            </a:r>
          </a:p>
        </p:txBody>
      </p:sp>
      <p:sp>
        <p:nvSpPr>
          <p:cNvPr id="10" name="TextBox 9"/>
          <p:cNvSpPr txBox="1"/>
          <p:nvPr/>
        </p:nvSpPr>
        <p:spPr>
          <a:xfrm>
            <a:off x="5536692" y="1737360"/>
            <a:ext cx="1517904" cy="329184"/>
          </a:xfrm>
          <a:prstGeom prst="rect">
            <a:avLst/>
          </a:prstGeom>
          <a:noFill/>
          <a:ln>
            <a:noFill/>
          </a:ln>
        </p:spPr>
        <p:txBody>
          <a:bodyPr wrap="square" anchor="ctr" lIns="25400" rIns="25400" tIns="0" bIns="0">
            <a:spAutoFit/>
          </a:bodyPr>
          <a:lstStyle/>
          <a:p>
            <a:pPr algn="ctr"/>
            <a:r>
              <a:rPr sz="1019" b="1">
                <a:solidFill>
                  <a:srgbClr val="211C18"/>
                </a:solidFill>
                <a:latin typeface="Microsoft YaHei"/>
              </a:rPr>
              <a:t>项目（人民币，千元）</a:t>
            </a:r>
          </a:p>
        </p:txBody>
      </p:sp>
      <p:sp>
        <p:nvSpPr>
          <p:cNvPr id="11" name="TextBox 10"/>
          <p:cNvSpPr txBox="1"/>
          <p:nvPr/>
        </p:nvSpPr>
        <p:spPr>
          <a:xfrm>
            <a:off x="7054596" y="1737360"/>
            <a:ext cx="931164" cy="329184"/>
          </a:xfrm>
          <a:prstGeom prst="rect">
            <a:avLst/>
          </a:prstGeom>
          <a:noFill/>
          <a:ln>
            <a:noFill/>
          </a:ln>
        </p:spPr>
        <p:txBody>
          <a:bodyPr wrap="square" anchor="ctr" lIns="25400" rIns="25400" tIns="0" bIns="0">
            <a:spAutoFit/>
          </a:bodyPr>
          <a:lstStyle/>
          <a:p>
            <a:pPr algn="ctr"/>
            <a:r>
              <a:rPr sz="1019" b="1">
                <a:solidFill>
                  <a:srgbClr val="211C18"/>
                </a:solidFill>
                <a:latin typeface="Microsoft YaHei"/>
              </a:rPr>
              <a:t>2023/12/31</a:t>
            </a:r>
          </a:p>
        </p:txBody>
      </p:sp>
      <p:sp>
        <p:nvSpPr>
          <p:cNvPr id="12" name="TextBox 11"/>
          <p:cNvSpPr txBox="1"/>
          <p:nvPr/>
        </p:nvSpPr>
        <p:spPr>
          <a:xfrm>
            <a:off x="7985760" y="1737360"/>
            <a:ext cx="931164" cy="329184"/>
          </a:xfrm>
          <a:prstGeom prst="rect">
            <a:avLst/>
          </a:prstGeom>
          <a:noFill/>
          <a:ln>
            <a:noFill/>
          </a:ln>
        </p:spPr>
        <p:txBody>
          <a:bodyPr wrap="square" anchor="ctr" lIns="25400" rIns="25400" tIns="0" bIns="0">
            <a:spAutoFit/>
          </a:bodyPr>
          <a:lstStyle/>
          <a:p>
            <a:pPr algn="ctr"/>
            <a:r>
              <a:rPr sz="1019" b="1">
                <a:solidFill>
                  <a:srgbClr val="211C18"/>
                </a:solidFill>
                <a:latin typeface="Microsoft YaHei"/>
              </a:rPr>
              <a:t>2024/12/31</a:t>
            </a:r>
          </a:p>
        </p:txBody>
      </p:sp>
      <p:sp>
        <p:nvSpPr>
          <p:cNvPr id="13" name="TextBox 12"/>
          <p:cNvSpPr txBox="1"/>
          <p:nvPr/>
        </p:nvSpPr>
        <p:spPr>
          <a:xfrm>
            <a:off x="8916924" y="1737360"/>
            <a:ext cx="931164" cy="329184"/>
          </a:xfrm>
          <a:prstGeom prst="rect">
            <a:avLst/>
          </a:prstGeom>
          <a:noFill/>
          <a:ln>
            <a:noFill/>
          </a:ln>
        </p:spPr>
        <p:txBody>
          <a:bodyPr wrap="square" anchor="ctr" lIns="25400" rIns="25400" tIns="0" bIns="0">
            <a:spAutoFit/>
          </a:bodyPr>
          <a:lstStyle/>
          <a:p>
            <a:pPr algn="ctr"/>
            <a:r>
              <a:rPr sz="1019" b="1">
                <a:solidFill>
                  <a:srgbClr val="211C18"/>
                </a:solidFill>
                <a:latin typeface="Microsoft YaHei"/>
              </a:rPr>
              <a:t>2025/12/31</a:t>
            </a:r>
          </a:p>
        </p:txBody>
      </p:sp>
      <p:sp>
        <p:nvSpPr>
          <p:cNvPr id="14" name="TextBox 13"/>
          <p:cNvSpPr txBox="1"/>
          <p:nvPr/>
        </p:nvSpPr>
        <p:spPr>
          <a:xfrm>
            <a:off x="5536692" y="1719072"/>
            <a:ext cx="4311396" cy="18288"/>
          </a:xfrm>
          <a:prstGeom prst="rect">
            <a:avLst/>
          </a:prstGeom>
          <a:solidFill>
            <a:srgbClr val="9A341C"/>
          </a:solidFill>
          <a:ln>
            <a:noFill/>
          </a:ln>
        </p:spPr>
        <p:txBody>
          <a:bodyPr wrap="none">
            <a:spAutoFit/>
          </a:bodyPr>
          <a:lstStyle/>
          <a:p/>
        </p:txBody>
      </p:sp>
      <p:sp>
        <p:nvSpPr>
          <p:cNvPr id="15" name="TextBox 14"/>
          <p:cNvSpPr txBox="1"/>
          <p:nvPr/>
        </p:nvSpPr>
        <p:spPr>
          <a:xfrm>
            <a:off x="5536692" y="2075688"/>
            <a:ext cx="4311396" cy="18288"/>
          </a:xfrm>
          <a:prstGeom prst="rect">
            <a:avLst/>
          </a:prstGeom>
          <a:solidFill>
            <a:srgbClr val="9A341C"/>
          </a:solidFill>
          <a:ln>
            <a:noFill/>
          </a:ln>
        </p:spPr>
        <p:txBody>
          <a:bodyPr wrap="none">
            <a:spAutoFit/>
          </a:bodyPr>
          <a:lstStyle/>
          <a:p/>
        </p:txBody>
      </p:sp>
      <p:graphicFrame>
        <p:nvGraphicFramePr>
          <p:cNvPr id="16" name="Table 15"/>
          <p:cNvGraphicFramePr>
            <a:graphicFrameLocks noGrp="1"/>
          </p:cNvGraphicFramePr>
          <p:nvPr/>
        </p:nvGraphicFramePr>
        <p:xfrm>
          <a:off x="5536692" y="2066544"/>
          <a:ext cx="4311396" cy="1792224"/>
        </p:xfrm>
        <a:graphic>
          <a:graphicData uri="http://schemas.openxmlformats.org/drawingml/2006/table">
            <a:tbl>
              <a:tblPr>
                <a:tableStyleId>{5C22544A-7EE6-4342-B048-85BDC9FD1C3A}</a:tableStyleId>
              </a:tblPr>
              <a:tblGrid>
                <a:gridCol w="1517904"/>
                <a:gridCol w="931164"/>
                <a:gridCol w="931164"/>
                <a:gridCol w="931164"/>
              </a:tblGrid>
              <a:tr h="224028">
                <a:tc>
                  <a:txBody>
                    <a:bodyPr wrap="square" anchor="ctr"/>
                    <a:lstStyle/>
                    <a:p>
                      <a:pPr algn="l"/>
                      <a:r>
                        <a:rPr sz="1019" b="1">
                          <a:solidFill>
                            <a:srgbClr val="211C18"/>
                          </a:solidFill>
                          <a:latin typeface="Microsoft YaHei"/>
                        </a:rPr>
                        <a:t>营业收入</a:t>
                      </a:r>
                    </a:p>
                  </a:txBody>
                  <a:tcPr anchor="ctr" marL="45720" marR="15240" marT="12700" marB="12700">
                    <a:solidFill>
                      <a:srgbClr val="F8F4EE"/>
                    </a:solidFill>
                  </a:tcPr>
                </a:tc>
                <a:tc>
                  <a:txBody>
                    <a:bodyPr wrap="square" anchor="ctr"/>
                    <a:lstStyle/>
                    <a:p>
                      <a:pPr algn="r"/>
                      <a:r>
                        <a:rPr sz="1019" b="0">
                          <a:solidFill>
                            <a:srgbClr val="211C18"/>
                          </a:solidFill>
                          <a:latin typeface="Microsoft YaHei"/>
                        </a:rPr>
                        <a:t>4,238,989</a:t>
                      </a:r>
                    </a:p>
                  </a:txBody>
                  <a:tcPr anchor="ctr" marL="15240" marR="45720" marT="12700" marB="12700">
                    <a:solidFill>
                      <a:srgbClr val="F8F4EE"/>
                    </a:solidFill>
                  </a:tcPr>
                </a:tc>
                <a:tc>
                  <a:txBody>
                    <a:bodyPr wrap="square" anchor="ctr"/>
                    <a:lstStyle/>
                    <a:p>
                      <a:pPr algn="r"/>
                      <a:r>
                        <a:rPr sz="1019" b="0">
                          <a:solidFill>
                            <a:srgbClr val="211C18"/>
                          </a:solidFill>
                          <a:latin typeface="Microsoft YaHei"/>
                        </a:rPr>
                        <a:t>5,086,600</a:t>
                      </a:r>
                    </a:p>
                  </a:txBody>
                  <a:tcPr anchor="ctr" marL="15240" marR="45720" marT="12700" marB="12700">
                    <a:solidFill>
                      <a:srgbClr val="F8F4EE"/>
                    </a:solidFill>
                  </a:tcPr>
                </a:tc>
                <a:tc>
                  <a:txBody>
                    <a:bodyPr wrap="square" anchor="ctr"/>
                    <a:lstStyle/>
                    <a:p>
                      <a:pPr algn="r"/>
                      <a:r>
                        <a:rPr sz="1019" b="0">
                          <a:solidFill>
                            <a:srgbClr val="211C18"/>
                          </a:solidFill>
                          <a:latin typeface="Microsoft YaHei"/>
                        </a:rPr>
                        <a:t>8,354,680</a:t>
                      </a:r>
                    </a:p>
                  </a:txBody>
                  <a:tcPr anchor="ctr" marL="15240" marR="45720" marT="12700" marB="12700">
                    <a:solidFill>
                      <a:srgbClr val="F8F4EE"/>
                    </a:solidFill>
                  </a:tcPr>
                </a:tc>
              </a:tr>
              <a:tr h="224028">
                <a:tc>
                  <a:txBody>
                    <a:bodyPr wrap="square" anchor="ctr"/>
                    <a:lstStyle/>
                    <a:p>
                      <a:pPr algn="l"/>
                      <a:r>
                        <a:rPr sz="1019" b="1">
                          <a:solidFill>
                            <a:srgbClr val="211C18"/>
                          </a:solidFill>
                          <a:latin typeface="Microsoft YaHei"/>
                        </a:rPr>
                        <a:t>营业收入增长率</a:t>
                      </a:r>
                    </a:p>
                  </a:txBody>
                  <a:tcPr anchor="ctr" marL="45720" marR="15240" marT="12700" marB="12700">
                    <a:solidFill>
                      <a:srgbClr val="F1EBE4"/>
                    </a:solidFill>
                  </a:tcPr>
                </a:tc>
                <a:tc>
                  <a:txBody>
                    <a:bodyPr wrap="square" anchor="ctr"/>
                    <a:lstStyle/>
                    <a:p>
                      <a:pPr algn="r"/>
                      <a:r>
                        <a:rPr sz="1019" b="0">
                          <a:solidFill>
                            <a:srgbClr val="211C18"/>
                          </a:solidFill>
                          <a:latin typeface="Microsoft YaHei"/>
                        </a:rPr>
                        <a:t>缺乏信息</a:t>
                      </a:r>
                    </a:p>
                  </a:txBody>
                  <a:tcPr anchor="ctr" marL="15240" marR="45720" marT="12700" marB="12700">
                    <a:solidFill>
                      <a:srgbClr val="F1EBE4"/>
                    </a:solidFill>
                  </a:tcPr>
                </a:tc>
                <a:tc>
                  <a:txBody>
                    <a:bodyPr wrap="square" anchor="ctr"/>
                    <a:lstStyle/>
                    <a:p>
                      <a:pPr algn="r"/>
                      <a:r>
                        <a:rPr sz="1019" b="0">
                          <a:solidFill>
                            <a:srgbClr val="211C18"/>
                          </a:solidFill>
                          <a:latin typeface="Microsoft YaHei"/>
                        </a:rPr>
                        <a:t>20.0%</a:t>
                      </a:r>
                    </a:p>
                  </a:txBody>
                  <a:tcPr anchor="ctr" marL="15240" marR="45720" marT="12700" marB="12700">
                    <a:solidFill>
                      <a:srgbClr val="F1EBE4"/>
                    </a:solidFill>
                  </a:tcPr>
                </a:tc>
                <a:tc>
                  <a:txBody>
                    <a:bodyPr wrap="square" anchor="ctr"/>
                    <a:lstStyle/>
                    <a:p>
                      <a:pPr algn="r"/>
                      <a:r>
                        <a:rPr sz="1019" b="0">
                          <a:solidFill>
                            <a:srgbClr val="211C18"/>
                          </a:solidFill>
                          <a:latin typeface="Microsoft YaHei"/>
                        </a:rPr>
                        <a:t>64.2%</a:t>
                      </a:r>
                    </a:p>
                  </a:txBody>
                  <a:tcPr anchor="ctr" marL="15240" marR="45720" marT="12700" marB="12700">
                    <a:solidFill>
                      <a:srgbClr val="F1EBE4"/>
                    </a:solidFill>
                  </a:tcPr>
                </a:tc>
              </a:tr>
              <a:tr h="224028">
                <a:tc>
                  <a:txBody>
                    <a:bodyPr wrap="square" anchor="ctr"/>
                    <a:lstStyle/>
                    <a:p>
                      <a:pPr algn="l"/>
                      <a:r>
                        <a:rPr sz="1019" b="1">
                          <a:solidFill>
                            <a:srgbClr val="211C18"/>
                          </a:solidFill>
                          <a:latin typeface="Microsoft YaHei"/>
                        </a:rPr>
                        <a:t>毛利率</a:t>
                      </a:r>
                    </a:p>
                  </a:txBody>
                  <a:tcPr anchor="ctr" marL="45720" marR="15240" marT="12700" marB="12700">
                    <a:solidFill>
                      <a:srgbClr val="F8F4EE"/>
                    </a:solidFill>
                  </a:tcPr>
                </a:tc>
                <a:tc>
                  <a:txBody>
                    <a:bodyPr wrap="square" anchor="ctr"/>
                    <a:lstStyle/>
                    <a:p>
                      <a:pPr algn="r"/>
                      <a:r>
                        <a:rPr sz="1019" b="0">
                          <a:solidFill>
                            <a:srgbClr val="211C18"/>
                          </a:solidFill>
                          <a:latin typeface="Microsoft YaHei"/>
                        </a:rPr>
                        <a:t>20.6%</a:t>
                      </a:r>
                    </a:p>
                  </a:txBody>
                  <a:tcPr anchor="ctr" marL="15240" marR="45720" marT="12700" marB="12700">
                    <a:solidFill>
                      <a:srgbClr val="F8F4EE"/>
                    </a:solidFill>
                  </a:tcPr>
                </a:tc>
                <a:tc>
                  <a:txBody>
                    <a:bodyPr wrap="square" anchor="ctr"/>
                    <a:lstStyle/>
                    <a:p>
                      <a:pPr algn="r"/>
                      <a:r>
                        <a:rPr sz="1019" b="0">
                          <a:solidFill>
                            <a:srgbClr val="211C18"/>
                          </a:solidFill>
                          <a:latin typeface="Microsoft YaHei"/>
                        </a:rPr>
                        <a:t>17.4%</a:t>
                      </a:r>
                    </a:p>
                  </a:txBody>
                  <a:tcPr anchor="ctr" marL="15240" marR="45720" marT="12700" marB="12700">
                    <a:solidFill>
                      <a:srgbClr val="F8F4EE"/>
                    </a:solidFill>
                  </a:tcPr>
                </a:tc>
                <a:tc>
                  <a:txBody>
                    <a:bodyPr wrap="square" anchor="ctr"/>
                    <a:lstStyle/>
                    <a:p>
                      <a:pPr algn="r"/>
                      <a:r>
                        <a:rPr sz="1019" b="0">
                          <a:solidFill>
                            <a:srgbClr val="211C18"/>
                          </a:solidFill>
                          <a:latin typeface="Microsoft YaHei"/>
                        </a:rPr>
                        <a:t>20.0%</a:t>
                      </a:r>
                    </a:p>
                  </a:txBody>
                  <a:tcPr anchor="ctr" marL="15240" marR="45720" marT="12700" marB="12700">
                    <a:solidFill>
                      <a:srgbClr val="F8F4EE"/>
                    </a:solidFill>
                  </a:tcPr>
                </a:tc>
              </a:tr>
              <a:tr h="224028">
                <a:tc>
                  <a:txBody>
                    <a:bodyPr wrap="square" anchor="ctr"/>
                    <a:lstStyle/>
                    <a:p>
                      <a:pPr algn="l"/>
                      <a:r>
                        <a:rPr sz="1019" b="1">
                          <a:solidFill>
                            <a:srgbClr val="211C18"/>
                          </a:solidFill>
                          <a:latin typeface="Microsoft YaHei"/>
                        </a:rPr>
                        <a:t>净利率</a:t>
                      </a:r>
                    </a:p>
                  </a:txBody>
                  <a:tcPr anchor="ctr" marL="45720" marR="15240" marT="12700" marB="12700">
                    <a:solidFill>
                      <a:srgbClr val="F1EBE4"/>
                    </a:solidFill>
                  </a:tcPr>
                </a:tc>
                <a:tc>
                  <a:txBody>
                    <a:bodyPr wrap="square" anchor="ctr"/>
                    <a:lstStyle/>
                    <a:p>
                      <a:pPr algn="r"/>
                      <a:r>
                        <a:rPr sz="1019" b="0">
                          <a:solidFill>
                            <a:srgbClr val="211C18"/>
                          </a:solidFill>
                          <a:latin typeface="Microsoft YaHei"/>
                        </a:rPr>
                        <a:t>5.1%</a:t>
                      </a:r>
                    </a:p>
                  </a:txBody>
                  <a:tcPr anchor="ctr" marL="15240" marR="45720" marT="12700" marB="12700">
                    <a:solidFill>
                      <a:srgbClr val="F1EBE4"/>
                    </a:solidFill>
                  </a:tcPr>
                </a:tc>
                <a:tc>
                  <a:txBody>
                    <a:bodyPr wrap="square" anchor="ctr"/>
                    <a:lstStyle/>
                    <a:p>
                      <a:pPr algn="r"/>
                      <a:r>
                        <a:rPr sz="1019" b="0">
                          <a:solidFill>
                            <a:srgbClr val="211C18"/>
                          </a:solidFill>
                          <a:latin typeface="Microsoft YaHei"/>
                        </a:rPr>
                        <a:t>1.8%</a:t>
                      </a:r>
                    </a:p>
                  </a:txBody>
                  <a:tcPr anchor="ctr" marL="15240" marR="45720" marT="12700" marB="12700">
                    <a:solidFill>
                      <a:srgbClr val="F1EBE4"/>
                    </a:solidFill>
                  </a:tcPr>
                </a:tc>
                <a:tc>
                  <a:txBody>
                    <a:bodyPr wrap="square" anchor="ctr"/>
                    <a:lstStyle/>
                    <a:p>
                      <a:pPr algn="r"/>
                      <a:r>
                        <a:rPr sz="1019" b="0">
                          <a:solidFill>
                            <a:srgbClr val="211C18"/>
                          </a:solidFill>
                          <a:latin typeface="Microsoft YaHei"/>
                        </a:rPr>
                        <a:t>10.4%</a:t>
                      </a:r>
                    </a:p>
                  </a:txBody>
                  <a:tcPr anchor="ctr" marL="15240" marR="45720" marT="12700" marB="12700">
                    <a:solidFill>
                      <a:srgbClr val="F1EBE4"/>
                    </a:solidFill>
                  </a:tcPr>
                </a:tc>
              </a:tr>
              <a:tr h="224028">
                <a:tc>
                  <a:txBody>
                    <a:bodyPr wrap="square" anchor="ctr"/>
                    <a:lstStyle/>
                    <a:p>
                      <a:pPr algn="l"/>
                      <a:r>
                        <a:rPr sz="1019" b="1">
                          <a:solidFill>
                            <a:srgbClr val="211C18"/>
                          </a:solidFill>
                          <a:latin typeface="Microsoft YaHei"/>
                        </a:rPr>
                        <a:t>净利润增长率</a:t>
                      </a:r>
                    </a:p>
                  </a:txBody>
                  <a:tcPr anchor="ctr" marL="45720" marR="15240" marT="12700" marB="12700">
                    <a:solidFill>
                      <a:srgbClr val="F8F4EE"/>
                    </a:solidFill>
                  </a:tcPr>
                </a:tc>
                <a:tc>
                  <a:txBody>
                    <a:bodyPr wrap="square" anchor="ctr"/>
                    <a:lstStyle/>
                    <a:p>
                      <a:pPr algn="r"/>
                      <a:r>
                        <a:rPr sz="1019" b="0">
                          <a:solidFill>
                            <a:srgbClr val="211C18"/>
                          </a:solidFill>
                          <a:latin typeface="Microsoft YaHei"/>
                        </a:rPr>
                        <a:t>缺乏信息</a:t>
                      </a:r>
                    </a:p>
                  </a:txBody>
                  <a:tcPr anchor="ctr" marL="15240" marR="45720" marT="12700" marB="12700">
                    <a:solidFill>
                      <a:srgbClr val="F8F4EE"/>
                    </a:solidFill>
                  </a:tcPr>
                </a:tc>
                <a:tc>
                  <a:txBody>
                    <a:bodyPr wrap="square" anchor="ctr"/>
                    <a:lstStyle/>
                    <a:p>
                      <a:pPr algn="r"/>
                      <a:r>
                        <a:rPr sz="1019" b="0">
                          <a:solidFill>
                            <a:srgbClr val="211C18"/>
                          </a:solidFill>
                          <a:latin typeface="Microsoft YaHei"/>
                        </a:rPr>
                        <a:t>-58.5%</a:t>
                      </a:r>
                    </a:p>
                  </a:txBody>
                  <a:tcPr anchor="ctr" marL="15240" marR="45720" marT="12700" marB="12700">
                    <a:solidFill>
                      <a:srgbClr val="F8F4EE"/>
                    </a:solidFill>
                  </a:tcPr>
                </a:tc>
                <a:tc>
                  <a:txBody>
                    <a:bodyPr wrap="square" anchor="ctr"/>
                    <a:lstStyle/>
                    <a:p>
                      <a:pPr algn="r"/>
                      <a:r>
                        <a:rPr sz="1019" b="0">
                          <a:solidFill>
                            <a:srgbClr val="211C18"/>
                          </a:solidFill>
                          <a:latin typeface="Microsoft YaHei"/>
                        </a:rPr>
                        <a:t>875.1%</a:t>
                      </a:r>
                    </a:p>
                  </a:txBody>
                  <a:tcPr anchor="ctr" marL="15240" marR="45720" marT="12700" marB="12700">
                    <a:solidFill>
                      <a:srgbClr val="F8F4EE"/>
                    </a:solidFill>
                  </a:tcPr>
                </a:tc>
              </a:tr>
              <a:tr h="224028">
                <a:tc>
                  <a:txBody>
                    <a:bodyPr wrap="square" anchor="ctr"/>
                    <a:lstStyle/>
                    <a:p>
                      <a:pPr algn="l"/>
                      <a:r>
                        <a:rPr sz="1019" b="1">
                          <a:solidFill>
                            <a:srgbClr val="211C18"/>
                          </a:solidFill>
                          <a:latin typeface="Microsoft YaHei"/>
                        </a:rPr>
                        <a:t>总资产</a:t>
                      </a:r>
                    </a:p>
                  </a:txBody>
                  <a:tcPr anchor="ctr" marL="45720" marR="15240" marT="12700" marB="12700">
                    <a:solidFill>
                      <a:srgbClr val="F1EBE4"/>
                    </a:solidFill>
                  </a:tcPr>
                </a:tc>
                <a:tc>
                  <a:txBody>
                    <a:bodyPr wrap="square" anchor="ctr"/>
                    <a:lstStyle/>
                    <a:p>
                      <a:pPr algn="r"/>
                      <a:r>
                        <a:rPr sz="1019" b="0">
                          <a:solidFill>
                            <a:srgbClr val="211C18"/>
                          </a:solidFill>
                          <a:latin typeface="Microsoft YaHei"/>
                        </a:rPr>
                        <a:t>5,480,854</a:t>
                      </a:r>
                    </a:p>
                  </a:txBody>
                  <a:tcPr anchor="ctr" marL="15240" marR="45720" marT="12700" marB="12700">
                    <a:solidFill>
                      <a:srgbClr val="F1EBE4"/>
                    </a:solidFill>
                  </a:tcPr>
                </a:tc>
                <a:tc>
                  <a:txBody>
                    <a:bodyPr wrap="square" anchor="ctr"/>
                    <a:lstStyle/>
                    <a:p>
                      <a:pPr algn="r"/>
                      <a:r>
                        <a:rPr sz="1019" b="0">
                          <a:solidFill>
                            <a:srgbClr val="211C18"/>
                          </a:solidFill>
                          <a:latin typeface="Microsoft YaHei"/>
                        </a:rPr>
                        <a:t>7,759,869</a:t>
                      </a:r>
                    </a:p>
                  </a:txBody>
                  <a:tcPr anchor="ctr" marL="15240" marR="45720" marT="12700" marB="12700">
                    <a:solidFill>
                      <a:srgbClr val="F1EBE4"/>
                    </a:solidFill>
                  </a:tcPr>
                </a:tc>
                <a:tc>
                  <a:txBody>
                    <a:bodyPr wrap="square" anchor="ctr"/>
                    <a:lstStyle/>
                    <a:p>
                      <a:pPr algn="r"/>
                      <a:r>
                        <a:rPr sz="1019" b="0">
                          <a:solidFill>
                            <a:srgbClr val="211C18"/>
                          </a:solidFill>
                          <a:latin typeface="Microsoft YaHei"/>
                        </a:rPr>
                        <a:t>7,743,144</a:t>
                      </a:r>
                    </a:p>
                  </a:txBody>
                  <a:tcPr anchor="ctr" marL="15240" marR="45720" marT="12700" marB="12700">
                    <a:solidFill>
                      <a:srgbClr val="F1EBE4"/>
                    </a:solidFill>
                  </a:tcPr>
                </a:tc>
              </a:tr>
              <a:tr h="224028">
                <a:tc>
                  <a:txBody>
                    <a:bodyPr wrap="square" anchor="ctr"/>
                    <a:lstStyle/>
                    <a:p>
                      <a:pPr algn="l"/>
                      <a:r>
                        <a:rPr sz="1019" b="1">
                          <a:solidFill>
                            <a:srgbClr val="211C18"/>
                          </a:solidFill>
                          <a:latin typeface="Microsoft YaHei"/>
                        </a:rPr>
                        <a:t>资产负债率</a:t>
                      </a:r>
                    </a:p>
                  </a:txBody>
                  <a:tcPr anchor="ctr" marL="45720" marR="15240" marT="12700" marB="12700">
                    <a:solidFill>
                      <a:srgbClr val="F8F4EE"/>
                    </a:solidFill>
                  </a:tcPr>
                </a:tc>
                <a:tc>
                  <a:txBody>
                    <a:bodyPr wrap="square" anchor="ctr"/>
                    <a:lstStyle/>
                    <a:p>
                      <a:pPr algn="r"/>
                      <a:r>
                        <a:rPr sz="1019" b="0">
                          <a:solidFill>
                            <a:srgbClr val="211C18"/>
                          </a:solidFill>
                          <a:latin typeface="Microsoft YaHei"/>
                        </a:rPr>
                        <a:t>58.5%</a:t>
                      </a:r>
                    </a:p>
                  </a:txBody>
                  <a:tcPr anchor="ctr" marL="15240" marR="45720" marT="12700" marB="12700">
                    <a:solidFill>
                      <a:srgbClr val="F8F4EE"/>
                    </a:solidFill>
                  </a:tcPr>
                </a:tc>
                <a:tc>
                  <a:txBody>
                    <a:bodyPr wrap="square" anchor="ctr"/>
                    <a:lstStyle/>
                    <a:p>
                      <a:pPr algn="r"/>
                      <a:r>
                        <a:rPr sz="1019" b="0">
                          <a:solidFill>
                            <a:srgbClr val="211C18"/>
                          </a:solidFill>
                          <a:latin typeface="Microsoft YaHei"/>
                        </a:rPr>
                        <a:t>71.1%</a:t>
                      </a:r>
                    </a:p>
                  </a:txBody>
                  <a:tcPr anchor="ctr" marL="15240" marR="45720" marT="12700" marB="12700">
                    <a:solidFill>
                      <a:srgbClr val="F8F4EE"/>
                    </a:solidFill>
                  </a:tcPr>
                </a:tc>
                <a:tc>
                  <a:txBody>
                    <a:bodyPr wrap="square" anchor="ctr"/>
                    <a:lstStyle/>
                    <a:p>
                      <a:pPr algn="r"/>
                      <a:r>
                        <a:rPr sz="1019" b="0">
                          <a:solidFill>
                            <a:srgbClr val="211C18"/>
                          </a:solidFill>
                          <a:latin typeface="Microsoft YaHei"/>
                        </a:rPr>
                        <a:t>35.9%</a:t>
                      </a:r>
                    </a:p>
                  </a:txBody>
                  <a:tcPr anchor="ctr" marL="15240" marR="45720" marT="12700" marB="12700">
                    <a:solidFill>
                      <a:srgbClr val="F8F4EE"/>
                    </a:solidFill>
                  </a:tcPr>
                </a:tc>
              </a:tr>
              <a:tr h="224028">
                <a:tc>
                  <a:txBody>
                    <a:bodyPr wrap="square" anchor="ctr"/>
                    <a:lstStyle/>
                    <a:p>
                      <a:pPr algn="l"/>
                      <a:r>
                        <a:rPr sz="1019" b="1">
                          <a:solidFill>
                            <a:srgbClr val="211C18"/>
                          </a:solidFill>
                          <a:latin typeface="Microsoft YaHei"/>
                        </a:rPr>
                        <a:t>ROE</a:t>
                      </a:r>
                    </a:p>
                  </a:txBody>
                  <a:tcPr anchor="ctr" marL="45720" marR="15240" marT="12700" marB="12700">
                    <a:solidFill>
                      <a:srgbClr val="F1EBE4"/>
                    </a:solidFill>
                  </a:tcPr>
                </a:tc>
                <a:tc>
                  <a:txBody>
                    <a:bodyPr wrap="square" anchor="ctr"/>
                    <a:lstStyle/>
                    <a:p>
                      <a:pPr algn="r"/>
                      <a:r>
                        <a:rPr sz="1019" b="0">
                          <a:solidFill>
                            <a:srgbClr val="211C18"/>
                          </a:solidFill>
                          <a:latin typeface="Microsoft YaHei"/>
                        </a:rPr>
                        <a:t>11.2%</a:t>
                      </a:r>
                    </a:p>
                  </a:txBody>
                  <a:tcPr anchor="ctr" marL="15240" marR="45720" marT="12700" marB="12700">
                    <a:solidFill>
                      <a:srgbClr val="F1EBE4"/>
                    </a:solidFill>
                  </a:tcPr>
                </a:tc>
                <a:tc>
                  <a:txBody>
                    <a:bodyPr wrap="square" anchor="ctr"/>
                    <a:lstStyle/>
                    <a:p>
                      <a:pPr algn="r"/>
                      <a:r>
                        <a:rPr sz="1019" b="0">
                          <a:solidFill>
                            <a:srgbClr val="211C18"/>
                          </a:solidFill>
                          <a:latin typeface="Microsoft YaHei"/>
                        </a:rPr>
                        <a:t>4.6%</a:t>
                      </a:r>
                    </a:p>
                  </a:txBody>
                  <a:tcPr anchor="ctr" marL="15240" marR="45720" marT="12700" marB="12700">
                    <a:solidFill>
                      <a:srgbClr val="F1EBE4"/>
                    </a:solidFill>
                  </a:tcPr>
                </a:tc>
                <a:tc>
                  <a:txBody>
                    <a:bodyPr wrap="square" anchor="ctr"/>
                    <a:lstStyle/>
                    <a:p>
                      <a:pPr algn="r"/>
                      <a:r>
                        <a:rPr sz="1019" b="0">
                          <a:solidFill>
                            <a:srgbClr val="211C18"/>
                          </a:solidFill>
                          <a:latin typeface="Microsoft YaHei"/>
                        </a:rPr>
                        <a:t>30.7%</a:t>
                      </a:r>
                    </a:p>
                  </a:txBody>
                  <a:tcPr anchor="ctr" marL="15240" marR="45720" marT="12700" marB="12700">
                    <a:solidFill>
                      <a:srgbClr val="F1EBE4"/>
                    </a:solidFill>
                  </a:tcPr>
                </a:tc>
              </a:tr>
            </a:tbl>
          </a:graphicData>
        </a:graphic>
      </p:graphicFrame>
      <p:sp>
        <p:nvSpPr>
          <p:cNvPr id="17" name="TextBox 16"/>
          <p:cNvSpPr txBox="1"/>
          <p:nvPr/>
        </p:nvSpPr>
        <p:spPr>
          <a:xfrm>
            <a:off x="749808" y="4206240"/>
            <a:ext cx="9189720" cy="1485900"/>
          </a:xfrm>
          <a:prstGeom prst="rect">
            <a:avLst/>
          </a:prstGeom>
          <a:solidFill>
            <a:srgbClr val="FFFFFF"/>
          </a:solidFill>
          <a:ln w="15240">
            <a:solidFill>
              <a:srgbClr val="D0B182"/>
            </a:solidFill>
            <a:prstDash val="dash"/>
          </a:ln>
        </p:spPr>
        <p:txBody>
          <a:bodyPr wrap="none">
            <a:spAutoFit/>
          </a:bodyPr>
          <a:lstStyle/>
          <a:p/>
        </p:txBody>
      </p:sp>
      <p:sp>
        <p:nvSpPr>
          <p:cNvPr id="18" name="TextBox 17"/>
          <p:cNvSpPr txBox="1"/>
          <p:nvPr/>
        </p:nvSpPr>
        <p:spPr>
          <a:xfrm>
            <a:off x="4439412" y="4005072"/>
            <a:ext cx="1810512" cy="274320"/>
          </a:xfrm>
          <a:prstGeom prst="rect">
            <a:avLst/>
          </a:prstGeom>
          <a:solidFill>
            <a:srgbClr val="EFE8DF"/>
          </a:solidFill>
          <a:ln w="10160">
            <a:solidFill>
              <a:srgbClr val="EFE8DF"/>
            </a:solidFill>
          </a:ln>
        </p:spPr>
        <p:txBody>
          <a:bodyPr wrap="square" anchor="ctr" lIns="0" rIns="0" tIns="0" bIns="0">
            <a:spAutoFit/>
          </a:bodyPr>
          <a:lstStyle/>
          <a:p>
            <a:pPr algn="ctr"/>
            <a:r>
              <a:rPr sz="1400" b="1">
                <a:solidFill>
                  <a:srgbClr val="9A341C"/>
                </a:solidFill>
                <a:latin typeface="SimHei"/>
              </a:rPr>
              <a:t>投资亮点</a:t>
            </a:r>
          </a:p>
        </p:txBody>
      </p:sp>
      <p:sp>
        <p:nvSpPr>
          <p:cNvPr id="19" name="TextBox 18"/>
          <p:cNvSpPr txBox="1"/>
          <p:nvPr/>
        </p:nvSpPr>
        <p:spPr>
          <a:xfrm>
            <a:off x="877824" y="4343400"/>
            <a:ext cx="8933688" cy="1284732"/>
          </a:xfrm>
          <a:prstGeom prst="rect">
            <a:avLst/>
          </a:prstGeom>
          <a:noFill/>
          <a:ln>
            <a:noFill/>
          </a:ln>
        </p:spPr>
        <p:txBody>
          <a:bodyPr wrap="square" anchor="ctr" lIns="0" rIns="0" tIns="0" bIns="0">
            <a:spAutoFit/>
          </a:bodyPr>
          <a:lstStyle/>
          <a:p>
            <a:pPr algn="l">
              <a:spcAft>
                <a:spcPts val="300"/>
              </a:spcAft>
            </a:pPr>
            <a:r>
              <a:rPr sz="1100" b="1">
                <a:solidFill>
                  <a:srgbClr val="9A341C"/>
                </a:solidFill>
                <a:latin typeface="Microsoft YaHei"/>
              </a:rPr>
              <a:t>AI算力红利与技术领先性：</a:t>
            </a:r>
            <a:r>
              <a:rPr sz="1100" b="0">
                <a:solidFill>
                  <a:srgbClr val="211C18"/>
                </a:solidFill>
                <a:latin typeface="Microsoft YaHei"/>
              </a:rPr>
              <a:t>公司成功卡位AI算力爆发红利，数通业务收入占比从24.9%飙升至65.5%。作为中国首批实现800G量产的企业，其1.6T LPO方案功耗较传统方案降低约60%，技术研发深度领先，拥有1500多项专利并参与多项行业标准制定。</a:t>
            </a:r>
          </a:p>
          <a:p>
            <a:pPr algn="l">
              <a:spcAft>
                <a:spcPts val="300"/>
              </a:spcAft>
            </a:pPr>
            <a:r>
              <a:rPr sz="1100" b="1">
                <a:solidFill>
                  <a:srgbClr val="9A341C"/>
                </a:solidFill>
                <a:latin typeface="Microsoft YaHei"/>
              </a:rPr>
              <a:t>全产业链垂直整合壁垒：</a:t>
            </a:r>
            <a:r>
              <a:rPr sz="1100" b="0">
                <a:solidFill>
                  <a:srgbClr val="211C18"/>
                </a:solidFill>
                <a:latin typeface="Microsoft YaHei"/>
              </a:rPr>
              <a:t>具备稀缺的“光芯片-光模块-终端设备”全产业链垂直整合能力。自研DFB/EML芯片不仅降低了外部依赖，更提升了模块设计的协同效率。随着高价值量产品内供率提升，垂直整合将构建起长期的成本护城河与利润增长空间。</a:t>
            </a:r>
          </a:p>
          <a:p>
            <a:pPr algn="l">
              <a:spcAft>
                <a:spcPts val="300"/>
              </a:spcAft>
            </a:pPr>
            <a:r>
              <a:rPr sz="1100" b="1">
                <a:solidFill>
                  <a:srgbClr val="9A341C"/>
                </a:solidFill>
                <a:latin typeface="Microsoft YaHei"/>
              </a:rPr>
              <a:t>全球化布局与合规优势：</a:t>
            </a:r>
            <a:r>
              <a:rPr sz="1100" b="0">
                <a:solidFill>
                  <a:srgbClr val="211C18"/>
                </a:solidFill>
                <a:latin typeface="Microsoft YaHei"/>
              </a:rPr>
              <a:t>拥有中国、泰国、美国三大制造基地，泰国基地利用率已升至65%以上。这种全球化产能布局使其能有效规避贸易关税风险，并顺利进入北美核心供应链，相比纯本土制造企业在获取全球订单方面具备显著的合规与交付优势。</a:t>
            </a:r>
          </a:p>
        </p:txBody>
      </p:sp>
      <p:sp>
        <p:nvSpPr>
          <p:cNvPr id="20" name="TextBox 19"/>
          <p:cNvSpPr txBox="1"/>
          <p:nvPr/>
        </p:nvSpPr>
        <p:spPr>
          <a:xfrm>
            <a:off x="749808" y="5893308"/>
            <a:ext cx="9189720" cy="965200"/>
          </a:xfrm>
          <a:prstGeom prst="rect">
            <a:avLst/>
          </a:prstGeom>
          <a:solidFill>
            <a:srgbClr val="FFFFFF"/>
          </a:solidFill>
          <a:ln w="15240">
            <a:solidFill>
              <a:srgbClr val="D0B182"/>
            </a:solidFill>
            <a:prstDash val="dash"/>
          </a:ln>
        </p:spPr>
        <p:txBody>
          <a:bodyPr wrap="none">
            <a:spAutoFit/>
          </a:bodyPr>
          <a:lstStyle/>
          <a:p/>
        </p:txBody>
      </p:sp>
      <p:sp>
        <p:nvSpPr>
          <p:cNvPr id="21" name="TextBox 20"/>
          <p:cNvSpPr txBox="1"/>
          <p:nvPr/>
        </p:nvSpPr>
        <p:spPr>
          <a:xfrm>
            <a:off x="768096" y="5911596"/>
            <a:ext cx="1389888" cy="928624"/>
          </a:xfrm>
          <a:prstGeom prst="rect">
            <a:avLst/>
          </a:prstGeom>
          <a:solidFill>
            <a:srgbClr val="EFE8DF"/>
          </a:solidFill>
          <a:ln w="10160">
            <a:solidFill>
              <a:srgbClr val="EFE8DF"/>
            </a:solidFill>
          </a:ln>
        </p:spPr>
        <p:txBody>
          <a:bodyPr wrap="square" anchor="ctr" lIns="25400" rIns="25400" tIns="0" bIns="0">
            <a:spAutoFit/>
          </a:bodyPr>
          <a:lstStyle/>
          <a:p>
            <a:pPr algn="ctr"/>
            <a:r>
              <a:rPr sz="1400" b="1">
                <a:solidFill>
                  <a:srgbClr val="9A341C"/>
                </a:solidFill>
                <a:latin typeface="SimHei"/>
              </a:rPr>
              <a:t>投资风险</a:t>
            </a:r>
          </a:p>
        </p:txBody>
      </p:sp>
      <p:sp>
        <p:nvSpPr>
          <p:cNvPr id="22" name="TextBox 21"/>
          <p:cNvSpPr txBox="1"/>
          <p:nvPr/>
        </p:nvSpPr>
        <p:spPr>
          <a:xfrm>
            <a:off x="2157984" y="5911596"/>
            <a:ext cx="7763256" cy="928624"/>
          </a:xfrm>
          <a:prstGeom prst="rect">
            <a:avLst/>
          </a:prstGeom>
          <a:solidFill>
            <a:srgbClr val="F3EEE8"/>
          </a:solidFill>
          <a:ln w="10160">
            <a:solidFill>
              <a:srgbClr val="F3EEE8"/>
            </a:solidFill>
          </a:ln>
        </p:spPr>
        <p:txBody>
          <a:bodyPr wrap="square" anchor="ctr" lIns="76200" rIns="76200" tIns="50800" bIns="50800">
            <a:spAutoFit/>
          </a:bodyPr>
          <a:lstStyle/>
          <a:p>
            <a:pPr algn="l"/>
            <a:r>
              <a:rPr sz="1100" b="0">
                <a:solidFill>
                  <a:srgbClr val="211C18"/>
                </a:solidFill>
                <a:latin typeface="Microsoft YaHei"/>
              </a:rPr>
              <a:t/>
            </a:r>
          </a:p>
        </p:txBody>
      </p:sp>
      <p:sp>
        <p:nvSpPr>
          <p:cNvPr id="23" name="TextBox 22"/>
          <p:cNvSpPr txBox="1"/>
          <p:nvPr/>
        </p:nvSpPr>
        <p:spPr>
          <a:xfrm>
            <a:off x="2231136" y="5966460"/>
            <a:ext cx="7635240" cy="818896"/>
          </a:xfrm>
          <a:prstGeom prst="rect">
            <a:avLst/>
          </a:prstGeom>
          <a:noFill/>
          <a:ln>
            <a:noFill/>
          </a:ln>
        </p:spPr>
        <p:txBody>
          <a:bodyPr wrap="square" anchor="ctr" lIns="0" rIns="0" tIns="0" bIns="0">
            <a:spAutoFit/>
          </a:bodyPr>
          <a:lstStyle/>
          <a:p>
            <a:pPr algn="l">
              <a:spcAft>
                <a:spcPts val="200"/>
              </a:spcAft>
            </a:pPr>
            <a:r>
              <a:rPr sz="1100" b="1">
                <a:solidFill>
                  <a:srgbClr val="9A341C"/>
                </a:solidFill>
                <a:latin typeface="Microsoft YaHei"/>
              </a:rPr>
              <a:t>地缘政治与供应链管制风险：</a:t>
            </a:r>
            <a:r>
              <a:rPr sz="1100" b="0">
                <a:solidFill>
                  <a:srgbClr val="211C18"/>
                </a:solidFill>
                <a:latin typeface="Microsoft YaHei"/>
              </a:rPr>
              <a:t>公司高度依赖受美国EAR管制的高端电控芯片（如DSP）。若地缘政治紧张局势升级或出口管制政策进一步收紧，可能面临核心原材料断供风险，对生产经营产生毁灭性打击。此外，海外基地的关税政策变动亦需重点关注。</a:t>
            </a:r>
          </a:p>
          <a:p>
            <a:pPr algn="l">
              <a:spcAft>
                <a:spcPts val="200"/>
              </a:spcAft>
            </a:pPr>
            <a:r>
              <a:rPr sz="1100" b="1">
                <a:solidFill>
                  <a:srgbClr val="9A341C"/>
                </a:solidFill>
                <a:latin typeface="Microsoft YaHei"/>
              </a:rPr>
              <a:t>大客户依赖与议价压力风险：</a:t>
            </a:r>
            <a:r>
              <a:rPr sz="1100" b="0">
                <a:solidFill>
                  <a:srgbClr val="211C18"/>
                </a:solidFill>
                <a:latin typeface="Microsoft YaHei"/>
              </a:rPr>
              <a:t>2025年前五大客户收入占比高达70.2%，客户集中度极高。单一核心客户（如大型互联网巨头）的订单波动、技术路径切换或议价能力的强势挤压，将直接导致公司业绩出现剧烈震荡，对经营稳定性构成挑战。</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