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49808" y="384048"/>
            <a:ext cx="9189720" cy="365760"/>
          </a:xfrm>
          <a:prstGeom prst="rect">
            <a:avLst/>
          </a:prstGeom>
          <a:noFill/>
          <a:ln>
            <a:noFill/>
          </a:ln>
        </p:spPr>
        <p:txBody>
          <a:bodyPr wrap="square" anchor="ctr" lIns="25400" rIns="25400" tIns="0" bIns="0">
            <a:spAutoFit/>
          </a:bodyPr>
          <a:lstStyle/>
          <a:p>
            <a:pPr algn="l"/>
            <a:r>
              <a:rPr sz="2000" b="1">
                <a:solidFill>
                  <a:srgbClr val="211C18"/>
                </a:solidFill>
                <a:latin typeface="SimHei"/>
              </a:rPr>
              <a:t>投资要点速览——中微半導體（深圳）股份有限公司</a:t>
            </a:r>
          </a:p>
        </p:txBody>
      </p:sp>
      <p:sp>
        <p:nvSpPr>
          <p:cNvPr id="3" name="TextBox 2"/>
          <p:cNvSpPr txBox="1"/>
          <p:nvPr/>
        </p:nvSpPr>
        <p:spPr>
          <a:xfrm>
            <a:off x="749808" y="786384"/>
            <a:ext cx="9189720" cy="45720"/>
          </a:xfrm>
          <a:prstGeom prst="rect">
            <a:avLst/>
          </a:prstGeom>
          <a:solidFill>
            <a:srgbClr val="C69552"/>
          </a:solidFill>
          <a:ln>
            <a:noFill/>
          </a:ln>
        </p:spPr>
        <p:txBody>
          <a:bodyPr wrap="none">
            <a:spAutoFit/>
          </a:bodyPr>
          <a:lstStyle/>
          <a:p/>
        </p:txBody>
      </p:sp>
      <p:sp>
        <p:nvSpPr>
          <p:cNvPr id="4" name="TextBox 3"/>
          <p:cNvSpPr txBox="1"/>
          <p:nvPr/>
        </p:nvSpPr>
        <p:spPr>
          <a:xfrm>
            <a:off x="749808" y="1005840"/>
            <a:ext cx="9189720" cy="329184"/>
          </a:xfrm>
          <a:prstGeom prst="rect">
            <a:avLst/>
          </a:prstGeom>
          <a:solidFill>
            <a:srgbClr val="9A341C"/>
          </a:solidFill>
          <a:ln w="10160">
            <a:solidFill>
              <a:srgbClr val="9A341C"/>
            </a:solidFill>
          </a:ln>
        </p:spPr>
        <p:txBody>
          <a:bodyPr wrap="square" anchor="ctr" lIns="152400" rIns="152400" tIns="25400" bIns="0">
            <a:spAutoFit/>
          </a:bodyPr>
          <a:lstStyle/>
          <a:p>
            <a:pPr algn="l"/>
            <a:r>
              <a:rPr sz="1400" b="1">
                <a:solidFill>
                  <a:srgbClr val="FFFFFF"/>
                </a:solidFill>
                <a:latin typeface="SimHei"/>
              </a:rPr>
              <a:t>国产 MCU 出货冠军，工控汽车双轮驱动转型升级</a:t>
            </a:r>
          </a:p>
        </p:txBody>
      </p:sp>
      <p:sp>
        <p:nvSpPr>
          <p:cNvPr id="5" name="TextBox 4"/>
          <p:cNvSpPr txBox="1"/>
          <p:nvPr/>
        </p:nvSpPr>
        <p:spPr>
          <a:xfrm>
            <a:off x="749808" y="1591056"/>
            <a:ext cx="4494276" cy="2340864"/>
          </a:xfrm>
          <a:prstGeom prst="rect">
            <a:avLst/>
          </a:prstGeom>
          <a:solidFill>
            <a:srgbClr val="FFFFFF"/>
          </a:solidFill>
          <a:ln w="15240">
            <a:solidFill>
              <a:srgbClr val="D0B182"/>
            </a:solidFill>
            <a:prstDash val="dash"/>
          </a:ln>
        </p:spPr>
        <p:txBody>
          <a:bodyPr wrap="none">
            <a:spAutoFit/>
          </a:bodyPr>
          <a:lstStyle/>
          <a:p/>
        </p:txBody>
      </p:sp>
      <p:sp>
        <p:nvSpPr>
          <p:cNvPr id="6" name="TextBox 5"/>
          <p:cNvSpPr txBox="1"/>
          <p:nvPr/>
        </p:nvSpPr>
        <p:spPr>
          <a:xfrm>
            <a:off x="2119122" y="1389888"/>
            <a:ext cx="1755648"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公司概况</a:t>
            </a:r>
          </a:p>
        </p:txBody>
      </p:sp>
      <p:sp>
        <p:nvSpPr>
          <p:cNvPr id="7" name="TextBox 6"/>
          <p:cNvSpPr txBox="1"/>
          <p:nvPr/>
        </p:nvSpPr>
        <p:spPr>
          <a:xfrm>
            <a:off x="877824" y="1737360"/>
            <a:ext cx="4238244" cy="2121408"/>
          </a:xfrm>
          <a:prstGeom prst="rect">
            <a:avLst/>
          </a:prstGeom>
          <a:noFill/>
          <a:ln>
            <a:noFill/>
          </a:ln>
        </p:spPr>
        <p:txBody>
          <a:bodyPr wrap="square" anchor="ctr" lIns="0" rIns="0" tIns="0" bIns="0">
            <a:spAutoFit/>
          </a:bodyPr>
          <a:lstStyle/>
          <a:p>
            <a:pPr algn="l">
              <a:spcAft>
                <a:spcPts val="600"/>
              </a:spcAft>
            </a:pPr>
            <a:r>
              <a:rPr sz="1060" b="0">
                <a:solidFill>
                  <a:srgbClr val="211C18"/>
                </a:solidFill>
                <a:latin typeface="Microsoft YaHei"/>
              </a:rPr>
              <a:t>中微半导体是中国领先的MCU芯片设计企业，现已确立中国MCU市场出货量第一的规模地位。公司秉持“应用定义芯片”理念，通过“芯片+算法+参考设计”的一站式解决方案，成功从消费电子红海突围，卡位工控与汽车电子蓝海。凭借海量出货带来的成本优势及1000多个自主IP构建的技术护城河，公司实现了盈利能力的强劲反转，是国产替代背景下具备极强竞争力的行业龙头。</a:t>
            </a:r>
          </a:p>
          <a:p>
            <a:pPr algn="l">
              <a:spcAft>
                <a:spcPts val="300"/>
              </a:spcAft>
            </a:pPr>
            <a:r>
              <a:rPr sz="1080" b="1">
                <a:solidFill>
                  <a:srgbClr val="9A341C"/>
                </a:solidFill>
                <a:latin typeface="Microsoft YaHei"/>
              </a:rPr>
              <a:t>微控制器（MCU）：</a:t>
            </a:r>
            <a:r>
              <a:rPr sz="1080" b="0">
                <a:solidFill>
                  <a:srgbClr val="211C18"/>
                </a:solidFill>
                <a:latin typeface="Microsoft YaHei"/>
              </a:rPr>
              <a:t>通用控制核心，用于温度感测、电机控制等。2024年中国出货量排名第一，具备极高性价比。</a:t>
            </a:r>
          </a:p>
          <a:p>
            <a:pPr algn="l">
              <a:spcAft>
                <a:spcPts val="300"/>
              </a:spcAft>
            </a:pPr>
            <a:r>
              <a:rPr sz="1080" b="1">
                <a:solidFill>
                  <a:srgbClr val="9A341C"/>
                </a:solidFill>
                <a:latin typeface="Microsoft YaHei"/>
              </a:rPr>
              <a:t>系统级芯片（SoC）：</a:t>
            </a:r>
            <a:r>
              <a:rPr sz="1080" b="0">
                <a:solidFill>
                  <a:srgbClr val="211C18"/>
                </a:solidFill>
                <a:latin typeface="Microsoft YaHei"/>
              </a:rPr>
              <a:t>集成多功能模块，用于智能家电主控及AIoT场景。通过高集成度设计显著降低终端BOM成本。</a:t>
            </a:r>
          </a:p>
          <a:p>
            <a:pPr algn="l">
              <a:spcAft>
                <a:spcPts val="300"/>
              </a:spcAft>
            </a:pPr>
            <a:r>
              <a:rPr sz="1080" b="1">
                <a:solidFill>
                  <a:srgbClr val="9A341C"/>
                </a:solidFill>
                <a:latin typeface="Microsoft YaHei"/>
              </a:rPr>
              <a:t>专用集成电路（ASIC）：</a:t>
            </a:r>
            <a:r>
              <a:rPr sz="1080" b="0">
                <a:solidFill>
                  <a:srgbClr val="211C18"/>
                </a:solidFill>
                <a:latin typeface="Microsoft YaHei"/>
              </a:rPr>
              <a:t>用于电池管理、传感器处理等特定高效率场景。配合自研算法，为客户提供定制化一站式方案。</a:t>
            </a:r>
          </a:p>
        </p:txBody>
      </p:sp>
      <p:sp>
        <p:nvSpPr>
          <p:cNvPr id="8" name="TextBox 7"/>
          <p:cNvSpPr txBox="1"/>
          <p:nvPr/>
        </p:nvSpPr>
        <p:spPr>
          <a:xfrm>
            <a:off x="5445252" y="1591056"/>
            <a:ext cx="4494276" cy="2340864"/>
          </a:xfrm>
          <a:prstGeom prst="rect">
            <a:avLst/>
          </a:prstGeom>
          <a:noFill/>
          <a:ln w="15240">
            <a:solidFill>
              <a:srgbClr val="D0B182"/>
            </a:solidFill>
            <a:prstDash val="dash"/>
          </a:ln>
        </p:spPr>
        <p:txBody>
          <a:bodyPr wrap="none">
            <a:spAutoFit/>
          </a:bodyPr>
          <a:lstStyle/>
          <a:p/>
        </p:txBody>
      </p:sp>
      <p:sp>
        <p:nvSpPr>
          <p:cNvPr id="9" name="TextBox 8"/>
          <p:cNvSpPr txBox="1"/>
          <p:nvPr/>
        </p:nvSpPr>
        <p:spPr>
          <a:xfrm>
            <a:off x="6814566" y="1389888"/>
            <a:ext cx="1755648"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财务数据</a:t>
            </a:r>
          </a:p>
        </p:txBody>
      </p:sp>
      <p:sp>
        <p:nvSpPr>
          <p:cNvPr id="10" name="TextBox 9"/>
          <p:cNvSpPr txBox="1"/>
          <p:nvPr/>
        </p:nvSpPr>
        <p:spPr>
          <a:xfrm>
            <a:off x="5536692" y="1737360"/>
            <a:ext cx="151790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项目（人民币，人民币千元（除特殊注明外））</a:t>
            </a:r>
          </a:p>
        </p:txBody>
      </p:sp>
      <p:sp>
        <p:nvSpPr>
          <p:cNvPr id="11" name="TextBox 10"/>
          <p:cNvSpPr txBox="1"/>
          <p:nvPr/>
        </p:nvSpPr>
        <p:spPr>
          <a:xfrm>
            <a:off x="7054596"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2023/12/31</a:t>
            </a:r>
          </a:p>
        </p:txBody>
      </p:sp>
      <p:sp>
        <p:nvSpPr>
          <p:cNvPr id="12" name="TextBox 11"/>
          <p:cNvSpPr txBox="1"/>
          <p:nvPr/>
        </p:nvSpPr>
        <p:spPr>
          <a:xfrm>
            <a:off x="7985760"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2024/12/31</a:t>
            </a:r>
          </a:p>
        </p:txBody>
      </p:sp>
      <p:sp>
        <p:nvSpPr>
          <p:cNvPr id="13" name="TextBox 12"/>
          <p:cNvSpPr txBox="1"/>
          <p:nvPr/>
        </p:nvSpPr>
        <p:spPr>
          <a:xfrm>
            <a:off x="8916924" y="1737360"/>
            <a:ext cx="931164" cy="329184"/>
          </a:xfrm>
          <a:prstGeom prst="rect">
            <a:avLst/>
          </a:prstGeom>
          <a:noFill/>
          <a:ln>
            <a:noFill/>
          </a:ln>
        </p:spPr>
        <p:txBody>
          <a:bodyPr wrap="square" anchor="ctr" lIns="25400" rIns="25400" tIns="0" bIns="0">
            <a:spAutoFit/>
          </a:bodyPr>
          <a:lstStyle/>
          <a:p>
            <a:pPr algn="ctr"/>
            <a:r>
              <a:rPr sz="1019" b="1">
                <a:solidFill>
                  <a:srgbClr val="211C18"/>
                </a:solidFill>
                <a:latin typeface="Microsoft YaHei"/>
              </a:rPr>
              <a:t>2025/12/31</a:t>
            </a:r>
          </a:p>
        </p:txBody>
      </p:sp>
      <p:sp>
        <p:nvSpPr>
          <p:cNvPr id="14" name="TextBox 13"/>
          <p:cNvSpPr txBox="1"/>
          <p:nvPr/>
        </p:nvSpPr>
        <p:spPr>
          <a:xfrm>
            <a:off x="5536692" y="1719072"/>
            <a:ext cx="4311396" cy="18288"/>
          </a:xfrm>
          <a:prstGeom prst="rect">
            <a:avLst/>
          </a:prstGeom>
          <a:solidFill>
            <a:srgbClr val="9A341C"/>
          </a:solidFill>
          <a:ln>
            <a:noFill/>
          </a:ln>
        </p:spPr>
        <p:txBody>
          <a:bodyPr wrap="none">
            <a:spAutoFit/>
          </a:bodyPr>
          <a:lstStyle/>
          <a:p/>
        </p:txBody>
      </p:sp>
      <p:sp>
        <p:nvSpPr>
          <p:cNvPr id="15" name="TextBox 14"/>
          <p:cNvSpPr txBox="1"/>
          <p:nvPr/>
        </p:nvSpPr>
        <p:spPr>
          <a:xfrm>
            <a:off x="5536692" y="2075688"/>
            <a:ext cx="4311396" cy="18288"/>
          </a:xfrm>
          <a:prstGeom prst="rect">
            <a:avLst/>
          </a:prstGeom>
          <a:solidFill>
            <a:srgbClr val="9A341C"/>
          </a:solidFill>
          <a:ln>
            <a:noFill/>
          </a:ln>
        </p:spPr>
        <p:txBody>
          <a:bodyPr wrap="none">
            <a:spAutoFit/>
          </a:bodyPr>
          <a:lstStyle/>
          <a:p/>
        </p:txBody>
      </p:sp>
      <p:graphicFrame>
        <p:nvGraphicFramePr>
          <p:cNvPr id="16" name="Table 15"/>
          <p:cNvGraphicFramePr>
            <a:graphicFrameLocks noGrp="1"/>
          </p:cNvGraphicFramePr>
          <p:nvPr/>
        </p:nvGraphicFramePr>
        <p:xfrm>
          <a:off x="5536692" y="2066544"/>
          <a:ext cx="4311396" cy="1792224"/>
        </p:xfrm>
        <a:graphic>
          <a:graphicData uri="http://schemas.openxmlformats.org/drawingml/2006/table">
            <a:tbl>
              <a:tblPr>
                <a:tableStyleId>{5C22544A-7EE6-4342-B048-85BDC9FD1C3A}</a:tableStyleId>
              </a:tblPr>
              <a:tblGrid>
                <a:gridCol w="1517904"/>
                <a:gridCol w="931164"/>
                <a:gridCol w="931164"/>
                <a:gridCol w="931164"/>
              </a:tblGrid>
              <a:tr h="224028">
                <a:tc>
                  <a:txBody>
                    <a:bodyPr wrap="square" anchor="ctr"/>
                    <a:lstStyle/>
                    <a:p>
                      <a:pPr algn="l"/>
                      <a:r>
                        <a:rPr sz="1019" b="1">
                          <a:solidFill>
                            <a:srgbClr val="211C18"/>
                          </a:solidFill>
                          <a:latin typeface="Microsoft YaHei"/>
                        </a:rPr>
                        <a:t>营业收入</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713,570</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911,655</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1,122,150</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营业收入增长率</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缺乏信息</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27.76%</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23.09%</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毛利率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9.7%</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28.6%</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32.9%</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净利率</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-3.08%</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15.01%</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25.32%</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净利润增长率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缺乏信息</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723.42%</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107.68%</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总资产</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3,151,080</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3,309,304</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3,679,356</a:t>
                      </a:r>
                    </a:p>
                  </a:txBody>
                  <a:tcPr anchor="ctr" marL="15240" marR="45720" marT="12700" marB="12700">
                    <a:solidFill>
                      <a:srgbClr val="F1EBE4"/>
                    </a:solidFill>
                  </a:tcPr>
                </a:tc>
              </a:tr>
              <a:tr h="224028">
                <a:tc>
                  <a:txBody>
                    <a:bodyPr wrap="square" anchor="ctr"/>
                    <a:lstStyle/>
                    <a:p>
                      <a:pPr algn="l"/>
                      <a:r>
                        <a:rPr sz="1019" b="1">
                          <a:solidFill>
                            <a:srgbClr val="211C18"/>
                          </a:solidFill>
                          <a:latin typeface="Microsoft YaHei"/>
                        </a:rPr>
                        <a:t>资产负债率</a:t>
                      </a:r>
                    </a:p>
                  </a:txBody>
                  <a:tcPr anchor="ctr" marL="45720" marR="15240" marT="12700" marB="12700">
                    <a:solidFill>
                      <a:srgbClr val="F8F4EE"/>
                    </a:solidFill>
                  </a:tcPr>
                </a:tc>
                <a:tc>
                  <a:txBody>
                    <a:bodyPr wrap="square" anchor="ctr"/>
                    <a:lstStyle/>
                    <a:p>
                      <a:pPr algn="r"/>
                      <a:r>
                        <a:rPr sz="1019" b="0">
                          <a:solidFill>
                            <a:srgbClr val="211C18"/>
                          </a:solidFill>
                          <a:latin typeface="Microsoft YaHei"/>
                        </a:rPr>
                        <a:t>5.70%</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9.55%</a:t>
                      </a:r>
                    </a:p>
                  </a:txBody>
                  <a:tcPr anchor="ctr" marL="15240" marR="45720" marT="12700" marB="12700">
                    <a:solidFill>
                      <a:srgbClr val="F8F4EE"/>
                    </a:solidFill>
                  </a:tcPr>
                </a:tc>
                <a:tc>
                  <a:txBody>
                    <a:bodyPr wrap="square" anchor="ctr"/>
                    <a:lstStyle/>
                    <a:p>
                      <a:pPr algn="r"/>
                      <a:r>
                        <a:rPr sz="1019" b="0">
                          <a:solidFill>
                            <a:srgbClr val="211C18"/>
                          </a:solidFill>
                          <a:latin typeface="Microsoft YaHei"/>
                        </a:rPr>
                        <a:t>13.64%</a:t>
                      </a:r>
                    </a:p>
                  </a:txBody>
                  <a:tcPr anchor="ctr" marL="15240" marR="45720" marT="12700" marB="12700">
                    <a:solidFill>
                      <a:srgbClr val="F8F4EE"/>
                    </a:solidFill>
                  </a:tcPr>
                </a:tc>
              </a:tr>
              <a:tr h="224028">
                <a:tc>
                  <a:txBody>
                    <a:bodyPr wrap="square" anchor="ctr"/>
                    <a:lstStyle/>
                    <a:p>
                      <a:pPr algn="l"/>
                      <a:r>
                        <a:rPr sz="1019" b="1">
                          <a:solidFill>
                            <a:srgbClr val="211C18"/>
                          </a:solidFill>
                          <a:latin typeface="Microsoft YaHei"/>
                        </a:rPr>
                        <a:t>ROE</a:t>
                      </a:r>
                    </a:p>
                  </a:txBody>
                  <a:tcPr anchor="ctr" marL="45720" marR="15240" marT="12700" marB="12700">
                    <a:solidFill>
                      <a:srgbClr val="F1EBE4"/>
                    </a:solidFill>
                  </a:tcPr>
                </a:tc>
                <a:tc>
                  <a:txBody>
                    <a:bodyPr wrap="square" anchor="ctr"/>
                    <a:lstStyle/>
                    <a:p>
                      <a:pPr algn="r"/>
                      <a:r>
                        <a:rPr sz="1019" b="0">
                          <a:solidFill>
                            <a:srgbClr val="211C18"/>
                          </a:solidFill>
                          <a:latin typeface="Microsoft YaHei"/>
                        </a:rPr>
                        <a:t>-0.74%</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4.57%</a:t>
                      </a:r>
                    </a:p>
                  </a:txBody>
                  <a:tcPr anchor="ctr" marL="15240" marR="45720" marT="12700" marB="12700">
                    <a:solidFill>
                      <a:srgbClr val="F1EBE4"/>
                    </a:solidFill>
                  </a:tcPr>
                </a:tc>
                <a:tc>
                  <a:txBody>
                    <a:bodyPr wrap="square" anchor="ctr"/>
                    <a:lstStyle/>
                    <a:p>
                      <a:pPr algn="r"/>
                      <a:r>
                        <a:rPr sz="1019" b="0">
                          <a:solidFill>
                            <a:srgbClr val="211C18"/>
                          </a:solidFill>
                          <a:latin typeface="Microsoft YaHei"/>
                        </a:rPr>
                        <a:t>8.94%</a:t>
                      </a:r>
                    </a:p>
                  </a:txBody>
                  <a:tcPr anchor="ctr" marL="15240" marR="45720" marT="12700" marB="12700">
                    <a:solidFill>
                      <a:srgbClr val="F1EBE4"/>
                    </a:solidFill>
                  </a:tcPr>
                </a:tc>
              </a:tr>
            </a:tbl>
          </a:graphicData>
        </a:graphic>
      </p:graphicFrame>
      <p:sp>
        <p:nvSpPr>
          <p:cNvPr id="17" name="TextBox 16"/>
          <p:cNvSpPr txBox="1"/>
          <p:nvPr/>
        </p:nvSpPr>
        <p:spPr>
          <a:xfrm>
            <a:off x="749808" y="4206240"/>
            <a:ext cx="9189720" cy="1485900"/>
          </a:xfrm>
          <a:prstGeom prst="rect">
            <a:avLst/>
          </a:prstGeom>
          <a:solidFill>
            <a:srgbClr val="FFFFFF"/>
          </a:solidFill>
          <a:ln w="15240">
            <a:solidFill>
              <a:srgbClr val="D0B182"/>
            </a:solidFill>
            <a:prstDash val="dash"/>
          </a:ln>
        </p:spPr>
        <p:txBody>
          <a:bodyPr wrap="none">
            <a:spAutoFit/>
          </a:bodyPr>
          <a:lstStyle/>
          <a:p/>
        </p:txBody>
      </p:sp>
      <p:sp>
        <p:nvSpPr>
          <p:cNvPr id="18" name="TextBox 17"/>
          <p:cNvSpPr txBox="1"/>
          <p:nvPr/>
        </p:nvSpPr>
        <p:spPr>
          <a:xfrm>
            <a:off x="4439412" y="4005072"/>
            <a:ext cx="1810512" cy="274320"/>
          </a:xfrm>
          <a:prstGeom prst="rect">
            <a:avLst/>
          </a:prstGeom>
          <a:solidFill>
            <a:srgbClr val="EFE8DF"/>
          </a:solidFill>
          <a:ln w="10160">
            <a:solidFill>
              <a:srgbClr val="EFE8DF"/>
            </a:solidFill>
          </a:ln>
        </p:spPr>
        <p:txBody>
          <a:bodyPr wrap="square" anchor="ctr" lIns="0" rIns="0" tIns="0" bIns="0">
            <a:spAutoFit/>
          </a:bodyPr>
          <a:lstStyle/>
          <a:p>
            <a:pPr algn="ctr"/>
            <a:r>
              <a:rPr sz="1400" b="1">
                <a:solidFill>
                  <a:srgbClr val="9A341C"/>
                </a:solidFill>
                <a:latin typeface="SimHei"/>
              </a:rPr>
              <a:t>投资亮点</a:t>
            </a:r>
          </a:p>
        </p:txBody>
      </p:sp>
      <p:sp>
        <p:nvSpPr>
          <p:cNvPr id="19" name="TextBox 18"/>
          <p:cNvSpPr txBox="1"/>
          <p:nvPr/>
        </p:nvSpPr>
        <p:spPr>
          <a:xfrm>
            <a:off x="877824" y="4343400"/>
            <a:ext cx="8933688" cy="1284732"/>
          </a:xfrm>
          <a:prstGeom prst="rect">
            <a:avLst/>
          </a:prstGeom>
          <a:noFill/>
          <a:ln>
            <a:noFill/>
          </a:ln>
        </p:spPr>
        <p:txBody>
          <a:bodyPr wrap="square" anchor="ctr" lIns="0" rIns="0" tIns="0" bIns="0">
            <a:spAutoFit/>
          </a:bodyPr>
          <a:lstStyle/>
          <a:p>
            <a:pPr algn="l">
              <a:spcAft>
                <a:spcPts val="300"/>
              </a:spcAft>
            </a:pPr>
            <a:r>
              <a:rPr sz="1100" b="1">
                <a:solidFill>
                  <a:srgbClr val="9A341C"/>
                </a:solidFill>
                <a:latin typeface="Microsoft YaHei"/>
              </a:rPr>
              <a:t>国产MCU出货量冠军，规模效应显著：</a:t>
            </a:r>
            <a:r>
              <a:rPr sz="1100" b="0">
                <a:solidFill>
                  <a:srgbClr val="211C18"/>
                </a:solidFill>
                <a:latin typeface="Microsoft YaHei"/>
              </a:rPr>
              <a:t>公司是中国MCU出货量第一的龙头，2024年市占率达12.6%，在智能家电领域收益排名第一。凭借年均28亿颗的海量出货，公司构建了极强的供应链议价能力与成本优势，形成了深厚的市场渗透力与规模壁垒。</a:t>
            </a:r>
          </a:p>
          <a:p>
            <a:pPr algn="l">
              <a:spcAft>
                <a:spcPts val="300"/>
              </a:spcAft>
            </a:pPr>
            <a:r>
              <a:rPr sz="1100" b="1">
                <a:solidFill>
                  <a:srgbClr val="9A341C"/>
                </a:solidFill>
                <a:latin typeface="Microsoft YaHei"/>
              </a:rPr>
              <a:t>战略纵深扩张，第二增长曲线已现：</a:t>
            </a:r>
            <a:r>
              <a:rPr sz="1100" b="0">
                <a:solidFill>
                  <a:srgbClr val="211C18"/>
                </a:solidFill>
                <a:latin typeface="Microsoft YaHei"/>
              </a:rPr>
              <a:t>成功实现从消费电子向高毛利赛道转型，2025年工业控制收入增长44.2%，汽车电子收入激增88.7%。通过“芯片+算法+参考设计”的一站式方案，公司深度嵌入客户架构，客户留存率从63.5%大幅提升至82.8%。</a:t>
            </a:r>
          </a:p>
          <a:p>
            <a:pPr algn="l">
              <a:spcAft>
                <a:spcPts val="300"/>
              </a:spcAft>
            </a:pPr>
            <a:r>
              <a:rPr sz="1100" b="1">
                <a:solidFill>
                  <a:srgbClr val="9A341C"/>
                </a:solidFill>
                <a:latin typeface="Microsoft YaHei"/>
              </a:rPr>
              <a:t>技术平台化驱动，盈利能力强劲反转：</a:t>
            </a:r>
            <a:r>
              <a:rPr sz="1100" b="0">
                <a:solidFill>
                  <a:srgbClr val="211C18"/>
                </a:solidFill>
                <a:latin typeface="Microsoft YaHei"/>
              </a:rPr>
              <a:t>拥有超1000个自主IP模块，实现芯片设计的结构化与可重用，显著降低边际开发成本。财务表现强劲反转，毛利率从9.7%回升至32.9%，净利润在2025年实现翻倍增长，现金储备充足，资产负债率极低。</a:t>
            </a:r>
          </a:p>
        </p:txBody>
      </p:sp>
      <p:sp>
        <p:nvSpPr>
          <p:cNvPr id="20" name="TextBox 19"/>
          <p:cNvSpPr txBox="1"/>
          <p:nvPr/>
        </p:nvSpPr>
        <p:spPr>
          <a:xfrm>
            <a:off x="749808" y="5893308"/>
            <a:ext cx="9189720" cy="965200"/>
          </a:xfrm>
          <a:prstGeom prst="rect">
            <a:avLst/>
          </a:prstGeom>
          <a:solidFill>
            <a:srgbClr val="FFFFFF"/>
          </a:solidFill>
          <a:ln w="15240">
            <a:solidFill>
              <a:srgbClr val="D0B182"/>
            </a:solidFill>
            <a:prstDash val="dash"/>
          </a:ln>
        </p:spPr>
        <p:txBody>
          <a:bodyPr wrap="none">
            <a:spAutoFit/>
          </a:bodyPr>
          <a:lstStyle/>
          <a:p/>
        </p:txBody>
      </p:sp>
      <p:sp>
        <p:nvSpPr>
          <p:cNvPr id="21" name="TextBox 20"/>
          <p:cNvSpPr txBox="1"/>
          <p:nvPr/>
        </p:nvSpPr>
        <p:spPr>
          <a:xfrm>
            <a:off x="768096" y="5911596"/>
            <a:ext cx="1389888" cy="928624"/>
          </a:xfrm>
          <a:prstGeom prst="rect">
            <a:avLst/>
          </a:prstGeom>
          <a:solidFill>
            <a:srgbClr val="EFE8DF"/>
          </a:solidFill>
          <a:ln w="10160">
            <a:solidFill>
              <a:srgbClr val="EFE8DF"/>
            </a:solidFill>
          </a:ln>
        </p:spPr>
        <p:txBody>
          <a:bodyPr wrap="square" anchor="ctr" lIns="25400" rIns="25400" tIns="0" bIns="0">
            <a:spAutoFit/>
          </a:bodyPr>
          <a:lstStyle/>
          <a:p>
            <a:pPr algn="ctr"/>
            <a:r>
              <a:rPr sz="1400" b="1">
                <a:solidFill>
                  <a:srgbClr val="9A341C"/>
                </a:solidFill>
                <a:latin typeface="SimHei"/>
              </a:rPr>
              <a:t>投资风险</a:t>
            </a:r>
          </a:p>
        </p:txBody>
      </p:sp>
      <p:sp>
        <p:nvSpPr>
          <p:cNvPr id="22" name="TextBox 21"/>
          <p:cNvSpPr txBox="1"/>
          <p:nvPr/>
        </p:nvSpPr>
        <p:spPr>
          <a:xfrm>
            <a:off x="2157984" y="5911596"/>
            <a:ext cx="7763256" cy="928624"/>
          </a:xfrm>
          <a:prstGeom prst="rect">
            <a:avLst/>
          </a:prstGeom>
          <a:solidFill>
            <a:srgbClr val="F3EEE8"/>
          </a:solidFill>
          <a:ln w="10160">
            <a:solidFill>
              <a:srgbClr val="F3EEE8"/>
            </a:solidFill>
          </a:ln>
        </p:spPr>
        <p:txBody>
          <a:bodyPr wrap="square" anchor="ctr" lIns="76200" rIns="76200" tIns="50800" bIns="50800">
            <a:spAutoFit/>
          </a:bodyPr>
          <a:lstStyle/>
          <a:p>
            <a:pPr algn="l"/>
            <a:r>
              <a:rPr sz="1100" b="0">
                <a:solidFill>
                  <a:srgbClr val="211C18"/>
                </a:solidFill>
                <a:latin typeface="Microsoft YaHei"/>
              </a:rPr>
              <a:t/>
            </a:r>
          </a:p>
        </p:txBody>
      </p:sp>
      <p:sp>
        <p:nvSpPr>
          <p:cNvPr id="23" name="TextBox 22"/>
          <p:cNvSpPr txBox="1"/>
          <p:nvPr/>
        </p:nvSpPr>
        <p:spPr>
          <a:xfrm>
            <a:off x="2231136" y="5966460"/>
            <a:ext cx="7635240" cy="818896"/>
          </a:xfrm>
          <a:prstGeom prst="rect">
            <a:avLst/>
          </a:prstGeom>
          <a:noFill/>
          <a:ln>
            <a:noFill/>
          </a:ln>
        </p:spPr>
        <p:txBody>
          <a:bodyPr wrap="square" anchor="ctr" lIns="0" rIns="0" tIns="0" bIns="0">
            <a:spAutoFit/>
          </a:bodyPr>
          <a:lstStyle/>
          <a:p>
            <a:pPr algn="l">
              <a:spcAft>
                <a:spcPts val="200"/>
              </a:spcAft>
            </a:pPr>
            <a:r>
              <a:rPr sz="1100" b="1">
                <a:solidFill>
                  <a:srgbClr val="9A341C"/>
                </a:solidFill>
                <a:latin typeface="Microsoft YaHei"/>
              </a:rPr>
              <a:t>供应链高度集中风险：</a:t>
            </a:r>
            <a:r>
              <a:rPr sz="1100" b="0">
                <a:solidFill>
                  <a:srgbClr val="211C18"/>
                </a:solidFill>
                <a:latin typeface="Microsoft YaHei"/>
              </a:rPr>
              <a:t>公司对单一晶圆代工厂采购占比超过50%，前五大供应商占比达85%以上。在地缘政治动荡背景下，任何针对成熟制程代工的出口管制或产能分配调整都可能导致公司面临断供风险，严重影响业务连续性。</a:t>
            </a:r>
          </a:p>
          <a:p>
            <a:pPr algn="l">
              <a:spcAft>
                <a:spcPts val="200"/>
              </a:spcAft>
            </a:pPr>
            <a:r>
              <a:rPr sz="1100" b="1">
                <a:solidFill>
                  <a:srgbClr val="9A341C"/>
                </a:solidFill>
                <a:latin typeface="Microsoft YaHei"/>
              </a:rPr>
              <a:t>产品平均售价持续下滑风险：</a:t>
            </a:r>
            <a:r>
              <a:rPr sz="1100" b="0">
                <a:solidFill>
                  <a:srgbClr val="211C18"/>
                </a:solidFill>
                <a:latin typeface="Microsoft YaHei"/>
              </a:rPr>
              <a:t>MCU平均售价从2023年的0.40元降至2025年的0.25元，降幅达37.5%。若行业价格战烈度超过公司通过工艺优化实现的降本速度，毛利率将面临再次受损的压力，对公司研发效率和高端转型提出更高要求。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