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84048"/>
            <a:ext cx="91897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0" bIns="0">
            <a:spAutoFit/>
          </a:bodyPr>
          <a:lstStyle/>
          <a:p>
            <a:pPr algn="l"/>
            <a:r>
              <a:rPr sz="2000" b="1">
                <a:solidFill>
                  <a:srgbClr val="211C18"/>
                </a:solidFill>
                <a:latin typeface="SimHei"/>
              </a:rPr>
              <a:t>投资要点速览——中文在線集團股份有限公司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786384"/>
            <a:ext cx="9189720" cy="45720"/>
          </a:xfrm>
          <a:prstGeom prst="rect">
            <a:avLst/>
          </a:prstGeom>
          <a:solidFill>
            <a:srgbClr val="C69552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49808" y="1005840"/>
            <a:ext cx="9189720" cy="329184"/>
          </a:xfrm>
          <a:prstGeom prst="rect">
            <a:avLst/>
          </a:prstGeom>
          <a:solidFill>
            <a:srgbClr val="9A341C"/>
          </a:solidFill>
          <a:ln w="10160">
            <a:solidFill>
              <a:srgbClr val="9A341C"/>
            </a:solidFill>
          </a:ln>
        </p:spPr>
        <p:txBody>
          <a:bodyPr wrap="square" anchor="ctr" lIns="152400" rIns="152400" tIns="2540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imHei"/>
              </a:rPr>
              <a:t>海量IP+AI驱动的全球化数字文娱领军者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591056"/>
            <a:ext cx="4494276" cy="2340864"/>
          </a:xfrm>
          <a:prstGeom prst="rect">
            <a:avLst/>
          </a:prstGeom>
          <a:solidFill>
            <a:srgbClr val="FFFFFF"/>
          </a:solidFill>
          <a:ln w="15240">
            <a:solidFill>
              <a:srgbClr val="D0B182"/>
            </a:solidFill>
            <a:prstDash val="dash"/>
          </a:ln>
        </p:spPr>
        <p:txBody>
          <a:bodyPr wrap="non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2119122" y="1389888"/>
            <a:ext cx="1755648" cy="274320"/>
          </a:xfrm>
          <a:prstGeom prst="rect">
            <a:avLst/>
          </a:prstGeom>
          <a:solidFill>
            <a:srgbClr val="EFE8DF"/>
          </a:solidFill>
          <a:ln w="10160">
            <a:solidFill>
              <a:srgbClr val="EFE8D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9A341C"/>
                </a:solidFill>
                <a:latin typeface="SimHei"/>
              </a:rPr>
              <a:t>公司概况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737360"/>
            <a:ext cx="4238244" cy="212140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60" b="0">
                <a:solidFill>
                  <a:srgbClr val="211C18"/>
                </a:solidFill>
                <a:latin typeface="Microsoft YaHei"/>
              </a:rPr>
              <a:t>中文在线是全球领先的数字文化内容平台，以“海量IP储备+AIGC全链路赋能”为核心驱动力。公司拥有超560万种数字内容，通过自主研发的“逍遥”大模型，成功将中国成熟的短剧模式推向全球，海外收入占比已达40%。虽然目前处于高投入扩张期，但其在AI降本增效与IP衍生开发方面的先发优势，使其具备极高的成长上限与战略价值。</a:t>
            </a:r>
          </a:p>
          <a:p>
            <a:pPr algn="l">
              <a:spcAft>
                <a:spcPts val="300"/>
              </a:spcAft>
            </a:pPr>
            <a:r>
              <a:rPr sz="1080" b="1">
                <a:solidFill>
                  <a:srgbClr val="9A341C"/>
                </a:solidFill>
                <a:latin typeface="Microsoft YaHei"/>
              </a:rPr>
              <a:t>网络文学及数字内容：</a:t>
            </a:r>
            <a:r>
              <a:rPr sz="1080" b="0">
                <a:solidFill>
                  <a:srgbClr val="211C18"/>
                </a:solidFill>
                <a:latin typeface="Microsoft YaHei"/>
              </a:rPr>
              <a:t>核心内容库，拥有560万种数字内容，通过自有及第三方平台分发，是IP改编的源头。</a:t>
            </a:r>
          </a:p>
          <a:p>
            <a:pPr algn="l">
              <a:spcAft>
                <a:spcPts val="300"/>
              </a:spcAft>
            </a:pPr>
            <a:r>
              <a:rPr sz="1080" b="1">
                <a:solidFill>
                  <a:srgbClr val="9A341C"/>
                </a:solidFill>
                <a:latin typeface="Microsoft YaHei"/>
              </a:rPr>
              <a:t>FlareFlow短剧平台：</a:t>
            </a:r>
            <a:r>
              <a:rPr sz="1080" b="0">
                <a:solidFill>
                  <a:srgbClr val="211C18"/>
                </a:solidFill>
                <a:latin typeface="Microsoft YaHei"/>
              </a:rPr>
              <a:t>海外旗舰短剧平台，注册用户超3300万，利用AI技术实现高效翻译与全球化快速复制。</a:t>
            </a:r>
          </a:p>
          <a:p>
            <a:pPr algn="l">
              <a:spcAft>
                <a:spcPts val="300"/>
              </a:spcAft>
            </a:pPr>
            <a:r>
              <a:rPr sz="1080" b="1">
                <a:solidFill>
                  <a:srgbClr val="9A341C"/>
                </a:solidFill>
                <a:latin typeface="Microsoft YaHei"/>
              </a:rPr>
              <a:t>“逍遥”AI大模型：</a:t>
            </a:r>
            <a:r>
              <a:rPr sz="1080" b="0">
                <a:solidFill>
                  <a:srgbClr val="211C18"/>
                </a:solidFill>
                <a:latin typeface="Microsoft YaHei"/>
              </a:rPr>
              <a:t>自主研发的垂类大模型，深度集成至创作、翻译及投放流，显著降低制作成本并提升效率。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45252" y="1591056"/>
            <a:ext cx="4494276" cy="2340864"/>
          </a:xfrm>
          <a:prstGeom prst="rect">
            <a:avLst/>
          </a:prstGeom>
          <a:noFill/>
          <a:ln w="15240">
            <a:solidFill>
              <a:srgbClr val="D0B182"/>
            </a:solidFill>
            <a:prstDash val="dash"/>
          </a:ln>
        </p:spPr>
        <p:txBody>
          <a:bodyPr wrap="none">
            <a:spAutoFit/>
          </a:bodyPr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14566" y="1389888"/>
            <a:ext cx="1755648" cy="274320"/>
          </a:xfrm>
          <a:prstGeom prst="rect">
            <a:avLst/>
          </a:prstGeom>
          <a:solidFill>
            <a:srgbClr val="EFE8DF"/>
          </a:solidFill>
          <a:ln w="10160">
            <a:solidFill>
              <a:srgbClr val="EFE8D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9A341C"/>
                </a:solidFill>
                <a:latin typeface="SimHei"/>
              </a:rPr>
              <a:t>财务数据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6692" y="1737360"/>
            <a:ext cx="151790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0" bIns="0">
            <a:spAutoFit/>
          </a:bodyPr>
          <a:lstStyle/>
          <a:p>
            <a:pPr algn="ctr"/>
            <a:r>
              <a:rPr sz="1019" b="1">
                <a:solidFill>
                  <a:srgbClr val="211C18"/>
                </a:solidFill>
                <a:latin typeface="Microsoft YaHei"/>
              </a:rPr>
              <a:t>项目（人民币，千元）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4596" y="1737360"/>
            <a:ext cx="93116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0" bIns="0">
            <a:spAutoFit/>
          </a:bodyPr>
          <a:lstStyle/>
          <a:p>
            <a:pPr algn="ctr"/>
            <a:r>
              <a:rPr sz="1019" b="1">
                <a:solidFill>
                  <a:srgbClr val="211C18"/>
                </a:solidFill>
                <a:latin typeface="Microsoft YaHei"/>
              </a:rPr>
              <a:t>2023年 (FY)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5760" y="1737360"/>
            <a:ext cx="93116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0" bIns="0">
            <a:spAutoFit/>
          </a:bodyPr>
          <a:lstStyle/>
          <a:p>
            <a:pPr algn="ctr"/>
            <a:r>
              <a:rPr sz="1019" b="1">
                <a:solidFill>
                  <a:srgbClr val="211C18"/>
                </a:solidFill>
                <a:latin typeface="Microsoft YaHei"/>
              </a:rPr>
              <a:t>2024年 (FY)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6924" y="1737360"/>
            <a:ext cx="93116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0" bIns="0">
            <a:spAutoFit/>
          </a:bodyPr>
          <a:lstStyle/>
          <a:p>
            <a:pPr algn="ctr"/>
            <a:r>
              <a:rPr sz="1019" b="1">
                <a:solidFill>
                  <a:srgbClr val="211C18"/>
                </a:solidFill>
                <a:latin typeface="Microsoft YaHei"/>
              </a:rPr>
              <a:t>2025年前九月 (9M)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6692" y="1719072"/>
            <a:ext cx="4311396" cy="18288"/>
          </a:xfrm>
          <a:prstGeom prst="rect">
            <a:avLst/>
          </a:prstGeom>
          <a:solidFill>
            <a:srgbClr val="9A341C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536692" y="2075688"/>
            <a:ext cx="4311396" cy="18288"/>
          </a:xfrm>
          <a:prstGeom prst="rect">
            <a:avLst/>
          </a:prstGeom>
          <a:solidFill>
            <a:srgbClr val="9A341C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536692" y="2066544"/>
          <a:ext cx="4311396" cy="17922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17904"/>
                <a:gridCol w="931164"/>
                <a:gridCol w="931164"/>
                <a:gridCol w="931164"/>
              </a:tblGrid>
              <a:tr h="2240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19" b="1">
                          <a:solidFill>
                            <a:srgbClr val="211C18"/>
                          </a:solidFill>
                          <a:latin typeface="Microsoft YaHei"/>
                        </a:rPr>
                        <a:t>营业收入</a:t>
                      </a:r>
                    </a:p>
                  </a:txBody>
                  <a:tcPr anchor="ctr" marL="45720" marR="15240" marT="12700" marB="12700">
                    <a:solidFill>
                      <a:srgbClr val="F8F4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1,408,857</a:t>
                      </a:r>
                    </a:p>
                  </a:txBody>
                  <a:tcPr anchor="ctr" marL="15240" marR="45720" marT="12700" marB="12700">
                    <a:solidFill>
                      <a:srgbClr val="F8F4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1,159,119</a:t>
                      </a:r>
                    </a:p>
                  </a:txBody>
                  <a:tcPr anchor="ctr" marL="15240" marR="45720" marT="12700" marB="12700">
                    <a:solidFill>
                      <a:srgbClr val="F8F4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1,011,039</a:t>
                      </a:r>
                    </a:p>
                  </a:txBody>
                  <a:tcPr anchor="ctr" marL="15240" marR="45720" marT="12700" marB="12700">
                    <a:solidFill>
                      <a:srgbClr val="F8F4EE"/>
                    </a:solidFill>
                  </a:tcPr>
                </a:tc>
              </a:tr>
              <a:tr h="2240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19" b="1">
                          <a:solidFill>
                            <a:srgbClr val="211C18"/>
                          </a:solidFill>
                          <a:latin typeface="Microsoft YaHei"/>
                        </a:rPr>
                        <a:t>营业收入增长率</a:t>
                      </a:r>
                    </a:p>
                  </a:txBody>
                  <a:tcPr anchor="ctr" marL="45720" marR="15240" marT="12700" marB="12700">
                    <a:solidFill>
                      <a:srgbClr val="F1EBE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缺乏信息</a:t>
                      </a:r>
                    </a:p>
                  </a:txBody>
                  <a:tcPr anchor="ctr" marL="15240" marR="45720" marT="12700" marB="12700">
                    <a:solidFill>
                      <a:srgbClr val="F1EBE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-17.7%</a:t>
                      </a:r>
                    </a:p>
                  </a:txBody>
                  <a:tcPr anchor="ctr" marL="15240" marR="45720" marT="12700" marB="12700">
                    <a:solidFill>
                      <a:srgbClr val="F1EBE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25.1%</a:t>
                      </a:r>
                    </a:p>
                  </a:txBody>
                  <a:tcPr anchor="ctr" marL="15240" marR="45720" marT="12700" marB="12700">
                    <a:solidFill>
                      <a:srgbClr val="F1EBE4"/>
                    </a:solidFill>
                  </a:tcPr>
                </a:tc>
              </a:tr>
              <a:tr h="2240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19" b="1">
                          <a:solidFill>
                            <a:srgbClr val="211C18"/>
                          </a:solidFill>
                          <a:latin typeface="Microsoft YaHei"/>
                        </a:rPr>
                        <a:t>毛利率</a:t>
                      </a:r>
                    </a:p>
                  </a:txBody>
                  <a:tcPr anchor="ctr" marL="45720" marR="15240" marT="12700" marB="12700">
                    <a:solidFill>
                      <a:srgbClr val="F8F4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44.7%</a:t>
                      </a:r>
                    </a:p>
                  </a:txBody>
                  <a:tcPr anchor="ctr" marL="15240" marR="45720" marT="12700" marB="12700">
                    <a:solidFill>
                      <a:srgbClr val="F8F4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32.9%</a:t>
                      </a:r>
                    </a:p>
                  </a:txBody>
                  <a:tcPr anchor="ctr" marL="15240" marR="45720" marT="12700" marB="12700">
                    <a:solidFill>
                      <a:srgbClr val="F8F4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34.4%</a:t>
                      </a:r>
                    </a:p>
                  </a:txBody>
                  <a:tcPr anchor="ctr" marL="15240" marR="45720" marT="12700" marB="12700">
                    <a:solidFill>
                      <a:srgbClr val="F8F4EE"/>
                    </a:solidFill>
                  </a:tcPr>
                </a:tc>
              </a:tr>
              <a:tr h="2240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19" b="1">
                          <a:solidFill>
                            <a:srgbClr val="211C18"/>
                          </a:solidFill>
                          <a:latin typeface="Microsoft YaHei"/>
                        </a:rPr>
                        <a:t>净利率</a:t>
                      </a:r>
                    </a:p>
                  </a:txBody>
                  <a:tcPr anchor="ctr" marL="45720" marR="15240" marT="12700" marB="12700">
                    <a:solidFill>
                      <a:srgbClr val="F1EBE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6.4%</a:t>
                      </a:r>
                    </a:p>
                  </a:txBody>
                  <a:tcPr anchor="ctr" marL="15240" marR="45720" marT="12700" marB="12700">
                    <a:solidFill>
                      <a:srgbClr val="F1EBE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-20.9%</a:t>
                      </a:r>
                    </a:p>
                  </a:txBody>
                  <a:tcPr anchor="ctr" marL="15240" marR="45720" marT="12700" marB="12700">
                    <a:solidFill>
                      <a:srgbClr val="F1EBE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-51.1%</a:t>
                      </a:r>
                    </a:p>
                  </a:txBody>
                  <a:tcPr anchor="ctr" marL="15240" marR="45720" marT="12700" marB="12700">
                    <a:solidFill>
                      <a:srgbClr val="F1EBE4"/>
                    </a:solidFill>
                  </a:tcPr>
                </a:tc>
              </a:tr>
              <a:tr h="2240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19" b="1">
                          <a:solidFill>
                            <a:srgbClr val="211C18"/>
                          </a:solidFill>
                          <a:latin typeface="Microsoft YaHei"/>
                        </a:rPr>
                        <a:t>净利润增长率</a:t>
                      </a:r>
                    </a:p>
                  </a:txBody>
                  <a:tcPr anchor="ctr" marL="45720" marR="15240" marT="12700" marB="12700">
                    <a:solidFill>
                      <a:srgbClr val="F8F4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缺乏信息</a:t>
                      </a:r>
                    </a:p>
                  </a:txBody>
                  <a:tcPr anchor="ctr" marL="15240" marR="45720" marT="12700" marB="12700">
                    <a:solidFill>
                      <a:srgbClr val="F8F4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-369.6%</a:t>
                      </a:r>
                    </a:p>
                  </a:txBody>
                  <a:tcPr anchor="ctr" marL="15240" marR="45720" marT="12700" marB="12700">
                    <a:solidFill>
                      <a:srgbClr val="F8F4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-176.7%</a:t>
                      </a:r>
                    </a:p>
                  </a:txBody>
                  <a:tcPr anchor="ctr" marL="15240" marR="45720" marT="12700" marB="12700">
                    <a:solidFill>
                      <a:srgbClr val="F8F4EE"/>
                    </a:solidFill>
                  </a:tcPr>
                </a:tc>
              </a:tr>
              <a:tr h="2240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19" b="1">
                          <a:solidFill>
                            <a:srgbClr val="211C18"/>
                          </a:solidFill>
                          <a:latin typeface="Microsoft YaHei"/>
                        </a:rPr>
                        <a:t>总资产</a:t>
                      </a:r>
                    </a:p>
                  </a:txBody>
                  <a:tcPr anchor="ctr" marL="45720" marR="15240" marT="12700" marB="12700">
                    <a:solidFill>
                      <a:srgbClr val="F1EBE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1,835,921</a:t>
                      </a:r>
                    </a:p>
                  </a:txBody>
                  <a:tcPr anchor="ctr" marL="15240" marR="45720" marT="12700" marB="12700">
                    <a:solidFill>
                      <a:srgbClr val="F1EBE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1,634,393</a:t>
                      </a:r>
                    </a:p>
                  </a:txBody>
                  <a:tcPr anchor="ctr" marL="15240" marR="45720" marT="12700" marB="12700">
                    <a:solidFill>
                      <a:srgbClr val="F1EBE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1,631,889</a:t>
                      </a:r>
                    </a:p>
                  </a:txBody>
                  <a:tcPr anchor="ctr" marL="15240" marR="45720" marT="12700" marB="12700">
                    <a:solidFill>
                      <a:srgbClr val="F1EBE4"/>
                    </a:solidFill>
                  </a:tcPr>
                </a:tc>
              </a:tr>
              <a:tr h="2240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19" b="1">
                          <a:solidFill>
                            <a:srgbClr val="211C18"/>
                          </a:solidFill>
                          <a:latin typeface="Microsoft YaHei"/>
                        </a:rPr>
                        <a:t>资产负债率</a:t>
                      </a:r>
                    </a:p>
                  </a:txBody>
                  <a:tcPr anchor="ctr" marL="45720" marR="15240" marT="12700" marB="12700">
                    <a:solidFill>
                      <a:srgbClr val="F8F4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31.0%</a:t>
                      </a:r>
                    </a:p>
                  </a:txBody>
                  <a:tcPr anchor="ctr" marL="15240" marR="45720" marT="12700" marB="12700">
                    <a:solidFill>
                      <a:srgbClr val="F8F4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38.5%</a:t>
                      </a:r>
                    </a:p>
                  </a:txBody>
                  <a:tcPr anchor="ctr" marL="15240" marR="45720" marT="12700" marB="12700">
                    <a:solidFill>
                      <a:srgbClr val="F8F4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66.6%</a:t>
                      </a:r>
                    </a:p>
                  </a:txBody>
                  <a:tcPr anchor="ctr" marL="15240" marR="45720" marT="12700" marB="12700">
                    <a:solidFill>
                      <a:srgbClr val="F8F4EE"/>
                    </a:solidFill>
                  </a:tcPr>
                </a:tc>
              </a:tr>
              <a:tr h="2240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19" b="1">
                          <a:solidFill>
                            <a:srgbClr val="211C18"/>
                          </a:solidFill>
                          <a:latin typeface="Microsoft YaHei"/>
                        </a:rPr>
                        <a:t>ROE</a:t>
                      </a:r>
                    </a:p>
                  </a:txBody>
                  <a:tcPr anchor="ctr" marL="45720" marR="15240" marT="12700" marB="12700">
                    <a:solidFill>
                      <a:srgbClr val="F1EBE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7.1%</a:t>
                      </a:r>
                    </a:p>
                  </a:txBody>
                  <a:tcPr anchor="ctr" marL="15240" marR="45720" marT="12700" marB="12700">
                    <a:solidFill>
                      <a:srgbClr val="F1EBE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-24.1%</a:t>
                      </a:r>
                    </a:p>
                  </a:txBody>
                  <a:tcPr anchor="ctr" marL="15240" marR="45720" marT="12700" marB="12700">
                    <a:solidFill>
                      <a:srgbClr val="F1EBE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-94.7%</a:t>
                      </a:r>
                    </a:p>
                  </a:txBody>
                  <a:tcPr anchor="ctr" marL="15240" marR="45720" marT="12700" marB="12700">
                    <a:solidFill>
                      <a:srgbClr val="F1EBE4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49808" y="4206240"/>
            <a:ext cx="9189720" cy="1485900"/>
          </a:xfrm>
          <a:prstGeom prst="rect">
            <a:avLst/>
          </a:prstGeom>
          <a:solidFill>
            <a:srgbClr val="FFFFFF"/>
          </a:solidFill>
          <a:ln w="15240">
            <a:solidFill>
              <a:srgbClr val="D0B182"/>
            </a:solidFill>
            <a:prstDash val="dash"/>
          </a:ln>
        </p:spPr>
        <p:txBody>
          <a:bodyPr wrap="none">
            <a:spAutoFit/>
          </a:bodyPr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439412" y="4005072"/>
            <a:ext cx="1810512" cy="274320"/>
          </a:xfrm>
          <a:prstGeom prst="rect">
            <a:avLst/>
          </a:prstGeom>
          <a:solidFill>
            <a:srgbClr val="EFE8DF"/>
          </a:solidFill>
          <a:ln w="10160">
            <a:solidFill>
              <a:srgbClr val="EFE8D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9A341C"/>
                </a:solidFill>
                <a:latin typeface="SimHei"/>
              </a:rPr>
              <a:t>投资亮点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4343400"/>
            <a:ext cx="8933688" cy="12847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9A341C"/>
                </a:solidFill>
                <a:latin typeface="Microsoft YaHei"/>
              </a:rPr>
              <a:t>海量IP储备构筑核心壁垒：</a:t>
            </a:r>
            <a:r>
              <a:rPr sz="1100" b="0">
                <a:solidFill>
                  <a:srgbClr val="211C18"/>
                </a:solidFill>
                <a:latin typeface="Microsoft YaHei"/>
              </a:rPr>
              <a:t>公司拥有超560万种数字内容储备及400万名注册作家，构筑了极高的内容进入门槛。海量IP可进行网文、音频、短剧、动漫等多形态开发，实现“一鱼多吃”，具备极强的衍生开发潜力与长生命周期价值。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9A341C"/>
                </a:solidFill>
                <a:latin typeface="Microsoft YaHei"/>
              </a:rPr>
              <a:t>AI全链路赋能实现降本增效：</a:t>
            </a:r>
            <a:r>
              <a:rPr sz="1100" b="0">
                <a:solidFill>
                  <a:srgbClr val="211C18"/>
                </a:solidFill>
                <a:latin typeface="Microsoft YaHei"/>
              </a:rPr>
              <a:t>自主研发“逍遥”大模型实现全链路赋能，翻译成本降低90%以上，内容产出效率提升40%，AI Agent使广告投放效率提升20倍。这种先发的技术积累和数据集优势，在行业内形成了实质性的技术降本与竞争壁垒。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9A341C"/>
                </a:solidFill>
                <a:latin typeface="Microsoft YaHei"/>
              </a:rPr>
              <a:t>海外业务爆发式增长潜力：</a:t>
            </a:r>
            <a:r>
              <a:rPr sz="1100" b="0">
                <a:solidFill>
                  <a:srgbClr val="211C18"/>
                </a:solidFill>
                <a:latin typeface="Microsoft YaHei"/>
              </a:rPr>
              <a:t>旗舰短剧平台FlareFlow注册用户突破3300万，月充值额超1000万美元，2025年前九月海外收入占比激增至40%。公司成功将中国成熟的短剧商业模式全球化复制，在海外市场已建立显著的品牌认知与先发优势。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893308"/>
            <a:ext cx="9189720" cy="965200"/>
          </a:xfrm>
          <a:prstGeom prst="rect">
            <a:avLst/>
          </a:prstGeom>
          <a:solidFill>
            <a:srgbClr val="FFFFFF"/>
          </a:solidFill>
          <a:ln w="15240">
            <a:solidFill>
              <a:srgbClr val="D0B182"/>
            </a:solidFill>
            <a:prstDash val="dash"/>
          </a:ln>
        </p:spPr>
        <p:txBody>
          <a:bodyPr wrap="none">
            <a:spAutoFit/>
          </a:bodyPr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68096" y="5911596"/>
            <a:ext cx="1389888" cy="928624"/>
          </a:xfrm>
          <a:prstGeom prst="rect">
            <a:avLst/>
          </a:prstGeom>
          <a:solidFill>
            <a:srgbClr val="EFE8DF"/>
          </a:solidFill>
          <a:ln w="10160">
            <a:solidFill>
              <a:srgbClr val="EFE8DF"/>
            </a:solidFill>
          </a:ln>
        </p:spPr>
        <p:txBody>
          <a:bodyPr wrap="square" anchor="ctr" lIns="25400" rIns="25400" tIns="0" bIns="0">
            <a:spAutoFit/>
          </a:bodyPr>
          <a:lstStyle/>
          <a:p>
            <a:pPr algn="ctr"/>
            <a:r>
              <a:rPr sz="1400" b="1">
                <a:solidFill>
                  <a:srgbClr val="9A341C"/>
                </a:solidFill>
                <a:latin typeface="SimHei"/>
              </a:rPr>
              <a:t>投资风险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57984" y="5911596"/>
            <a:ext cx="7763256" cy="928624"/>
          </a:xfrm>
          <a:prstGeom prst="rect">
            <a:avLst/>
          </a:prstGeom>
          <a:solidFill>
            <a:srgbClr val="F3EEE8"/>
          </a:solidFill>
          <a:ln w="10160">
            <a:solidFill>
              <a:srgbClr val="F3EEE8"/>
            </a:solidFill>
          </a:ln>
        </p:spPr>
        <p:txBody>
          <a:bodyPr wrap="square" anchor="ctr" lIns="76200" rIns="76200" tIns="50800" bIns="50800">
            <a:spAutoFit/>
          </a:bodyPr>
          <a:lstStyle/>
          <a:p>
            <a:pPr algn="l"/>
            <a:r>
              <a:rPr sz="1100" b="0">
                <a:solidFill>
                  <a:srgbClr val="211C18"/>
                </a:solidFill>
                <a:latin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1136" y="5966460"/>
            <a:ext cx="7635240" cy="818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9A341C"/>
                </a:solidFill>
                <a:latin typeface="Microsoft YaHei"/>
              </a:rPr>
              <a:t>流动性枯竭与财务生存风险：</a:t>
            </a:r>
            <a:r>
              <a:rPr sz="1100" b="0">
                <a:solidFill>
                  <a:srgbClr val="211C18"/>
                </a:solidFill>
                <a:latin typeface="Microsoft YaHei"/>
              </a:rPr>
              <a:t>截至2025年9月末，公司流动比率仅0.83，录得1.65亿元净流动负债，且经营现金流持续净流出。若港股IPO募资不及预期或延迟，公司将面临严重的资金链断裂风险，财务基本面目前处于极度脆弱状态。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9A341C"/>
                </a:solidFill>
                <a:latin typeface="Microsoft YaHei"/>
              </a:rPr>
              <a:t>营销驱动型亏损与监管不确定性：</a:t>
            </a:r>
            <a:r>
              <a:rPr sz="1100" b="0">
                <a:solidFill>
                  <a:srgbClr val="211C18"/>
                </a:solidFill>
                <a:latin typeface="Microsoft YaHei"/>
              </a:rPr>
              <a:t>销售费用率高达65.3%，呈现明显的“烧钱换增长”特征。若海外用户获取成本持续攀升且留存率不及预期，商业模式可能陷入持续亏损。此外，AIGC内容的版权法律地位及海外监管政策变动亦可能冲击业务根基。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